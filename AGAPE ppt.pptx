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65"/>
    <p:restoredTop sz="94694"/>
  </p:normalViewPr>
  <p:slideViewPr>
    <p:cSldViewPr snapToGrid="0" showGuides="1">
      <p:cViewPr varScale="1">
        <p:scale>
          <a:sx n="107" d="100"/>
          <a:sy n="107" d="100"/>
        </p:scale>
        <p:origin x="824" y="4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375C8-16E6-E2C4-C55C-52F3475B622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2255A17-FEB4-4962-411F-2C8AF3F938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C2C7EAD-3FD6-396A-3302-3833165EA1BD}"/>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5" name="Footer Placeholder 4">
            <a:extLst>
              <a:ext uri="{FF2B5EF4-FFF2-40B4-BE49-F238E27FC236}">
                <a16:creationId xmlns:a16="http://schemas.microsoft.com/office/drawing/2014/main" id="{BFFDF7C9-7EE4-9A41-BF52-C697D8D28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8AA875-ADE4-9F2B-2747-CFF3F5A244A4}"/>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1944135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2184C-215D-F0C5-3B33-996D6E5F194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9FB7B93-9F7B-6C99-7838-6BC4BFB8A7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FEBA53D-BD84-5012-3504-ED0B157F7D25}"/>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5" name="Footer Placeholder 4">
            <a:extLst>
              <a:ext uri="{FF2B5EF4-FFF2-40B4-BE49-F238E27FC236}">
                <a16:creationId xmlns:a16="http://schemas.microsoft.com/office/drawing/2014/main" id="{95ED8689-35C7-25CE-3AD5-B7FF99F0CB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6F69D-19F7-1D45-D5EB-1496506CDABD}"/>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3704378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1946D-D122-A4BD-9088-F30D090B0E2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FAFB3F-CB05-8435-3885-A44636F705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ABFFF7E-FF29-4FD7-B6E5-103EE7338CDD}"/>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5" name="Footer Placeholder 4">
            <a:extLst>
              <a:ext uri="{FF2B5EF4-FFF2-40B4-BE49-F238E27FC236}">
                <a16:creationId xmlns:a16="http://schemas.microsoft.com/office/drawing/2014/main" id="{A9BD8DDE-E6CF-7E5B-5A2D-CCE1682134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AD81A-A059-1E4F-0852-32CE72C05712}"/>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14965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3147-4ACD-AD0F-BC8C-08D93A82C3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F7AD0FA-9510-5724-D4CF-424DB76114E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BAF4CEC-ACBA-5E21-3B25-2576DCAC827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0290BDD-FDA2-D3D9-D854-631A525D2610}"/>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6" name="Footer Placeholder 5">
            <a:extLst>
              <a:ext uri="{FF2B5EF4-FFF2-40B4-BE49-F238E27FC236}">
                <a16:creationId xmlns:a16="http://schemas.microsoft.com/office/drawing/2014/main" id="{FCB97CFD-9B10-9849-FA22-C38E609CD4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402B85-0E42-0A5A-E669-20B16CEB5356}"/>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405753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E0B50-207D-BE72-1F56-B698AD2C50F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57C6B37-6AA5-6122-3201-7E836BD371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9E90AC-E888-A694-81AE-1EB853562FE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A49A7FD-72F1-5AC6-9697-A77EB7DCE3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45A572C-284E-C50C-7BD6-51B2F569693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796BB0D-798B-2116-23F0-FEB293300F5F}"/>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8" name="Footer Placeholder 7">
            <a:extLst>
              <a:ext uri="{FF2B5EF4-FFF2-40B4-BE49-F238E27FC236}">
                <a16:creationId xmlns:a16="http://schemas.microsoft.com/office/drawing/2014/main" id="{E042F48D-A463-2B8A-4572-978F5D28EC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4908F3-31BB-A27F-96EE-78EA90F664E4}"/>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18375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AB657-0C20-B5BD-DE1D-71D011C8B81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33B167A-8CED-76F5-E0D3-7AB15CB9E341}"/>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4" name="Footer Placeholder 3">
            <a:extLst>
              <a:ext uri="{FF2B5EF4-FFF2-40B4-BE49-F238E27FC236}">
                <a16:creationId xmlns:a16="http://schemas.microsoft.com/office/drawing/2014/main" id="{8D722325-8BAB-82FC-0776-9E8E1C119E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F7AE89-EFF1-4A77-87BC-1028A8D8F170}"/>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3720805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D678F2-92EA-D50F-930B-2C148D0D0237}"/>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3" name="Footer Placeholder 2">
            <a:extLst>
              <a:ext uri="{FF2B5EF4-FFF2-40B4-BE49-F238E27FC236}">
                <a16:creationId xmlns:a16="http://schemas.microsoft.com/office/drawing/2014/main" id="{DEA235AC-FE62-7D1F-7878-07B6F23E2D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CB9B2E-EA2D-4B1C-B14C-F0013DF38598}"/>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2135275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D849-B4B5-AB3D-813C-6E9DEEC9BDF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85486E8-8DFE-524D-90F8-2C29047F68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77B6D50-4B24-4BEA-1523-C67DE24AE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DA1AE66-70DD-1EC4-D386-7E17CFF04E4E}"/>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6" name="Footer Placeholder 5">
            <a:extLst>
              <a:ext uri="{FF2B5EF4-FFF2-40B4-BE49-F238E27FC236}">
                <a16:creationId xmlns:a16="http://schemas.microsoft.com/office/drawing/2014/main" id="{1050A375-E3F1-C5F8-E577-E391B5874F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706C2C-FC1D-CFD7-4D25-752CA2499D8A}"/>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3543378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4B0D7-7A93-C25A-302D-2D74E47B47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C5E210B-A0A8-938F-6DD2-0DD141781E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6F050A-3A1F-954C-C572-6EDAC0B018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99EDF9-C2B4-9941-472E-67426492907E}"/>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6" name="Footer Placeholder 5">
            <a:extLst>
              <a:ext uri="{FF2B5EF4-FFF2-40B4-BE49-F238E27FC236}">
                <a16:creationId xmlns:a16="http://schemas.microsoft.com/office/drawing/2014/main" id="{B03B21F6-1AAA-73CE-966D-22F408BA3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7B7AD0-38CA-8600-F9DB-84DA744AF085}"/>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268354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921EC-2409-9D02-0112-F3D4908F0DF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DB9EA71-9120-F76F-061A-2FA1B938AE2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EE5817D-9843-3AF3-8372-1CFB1EC91D3C}"/>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5" name="Footer Placeholder 4">
            <a:extLst>
              <a:ext uri="{FF2B5EF4-FFF2-40B4-BE49-F238E27FC236}">
                <a16:creationId xmlns:a16="http://schemas.microsoft.com/office/drawing/2014/main" id="{98E5D7D0-09C6-3C29-5425-7C4FD07185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097B8E-107D-2092-8B46-9C71EDF46449}"/>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1029977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DE461D-6C83-C6AC-B346-84B861334B3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095DF0-947A-9C9B-662F-66BF20449FF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99C092-4150-7927-AD67-AE64D3104255}"/>
              </a:ext>
            </a:extLst>
          </p:cNvPr>
          <p:cNvSpPr>
            <a:spLocks noGrp="1"/>
          </p:cNvSpPr>
          <p:nvPr>
            <p:ph type="dt" sz="half" idx="10"/>
          </p:nvPr>
        </p:nvSpPr>
        <p:spPr/>
        <p:txBody>
          <a:bodyPr/>
          <a:lstStyle/>
          <a:p>
            <a:fld id="{C2E4065F-1631-FE46-BDA6-F0AC5872166B}" type="datetimeFigureOut">
              <a:rPr lang="en-US" smtClean="0"/>
              <a:t>7/20/25</a:t>
            </a:fld>
            <a:endParaRPr lang="en-US"/>
          </a:p>
        </p:txBody>
      </p:sp>
      <p:sp>
        <p:nvSpPr>
          <p:cNvPr id="5" name="Footer Placeholder 4">
            <a:extLst>
              <a:ext uri="{FF2B5EF4-FFF2-40B4-BE49-F238E27FC236}">
                <a16:creationId xmlns:a16="http://schemas.microsoft.com/office/drawing/2014/main" id="{A444E91A-A3EE-E8B7-CBB4-B1D1453BC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61B42-B8EC-2854-D3C2-76B5176CFF0D}"/>
              </a:ext>
            </a:extLst>
          </p:cNvPr>
          <p:cNvSpPr>
            <a:spLocks noGrp="1"/>
          </p:cNvSpPr>
          <p:nvPr>
            <p:ph type="sldNum" sz="quarter" idx="12"/>
          </p:nvPr>
        </p:nvSpPr>
        <p:spPr/>
        <p:txBody>
          <a:bodyPr/>
          <a:lstStyle/>
          <a:p>
            <a:fld id="{1FAA9DA3-B2AA-1442-BE0E-746D0EDC8DBE}" type="slidenum">
              <a:rPr lang="en-US" smtClean="0"/>
              <a:t>‹#›</a:t>
            </a:fld>
            <a:endParaRPr lang="en-US"/>
          </a:p>
        </p:txBody>
      </p:sp>
    </p:spTree>
    <p:extLst>
      <p:ext uri="{BB962C8B-B14F-4D97-AF65-F5344CB8AC3E}">
        <p14:creationId xmlns:p14="http://schemas.microsoft.com/office/powerpoint/2010/main" val="104429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60A6B3-7367-8B6B-574E-6B2203C25E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4334187-33E9-95B0-A302-E94DA0F0FC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26B3B0-6DB7-DB8E-CEB2-6C8505D1A7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E4065F-1631-FE46-BDA6-F0AC5872166B}" type="datetimeFigureOut">
              <a:rPr lang="en-US" smtClean="0"/>
              <a:t>7/20/25</a:t>
            </a:fld>
            <a:endParaRPr lang="en-US"/>
          </a:p>
        </p:txBody>
      </p:sp>
      <p:sp>
        <p:nvSpPr>
          <p:cNvPr id="5" name="Footer Placeholder 4">
            <a:extLst>
              <a:ext uri="{FF2B5EF4-FFF2-40B4-BE49-F238E27FC236}">
                <a16:creationId xmlns:a16="http://schemas.microsoft.com/office/drawing/2014/main" id="{D1F20867-8A2F-8B53-38BF-89911379B2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72220A-0186-BBD6-1D56-EA22C3E9FB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AA9DA3-B2AA-1442-BE0E-746D0EDC8DBE}" type="slidenum">
              <a:rPr lang="en-US" smtClean="0"/>
              <a:t>‹#›</a:t>
            </a:fld>
            <a:endParaRPr lang="en-US"/>
          </a:p>
        </p:txBody>
      </p:sp>
    </p:spTree>
    <p:extLst>
      <p:ext uri="{BB962C8B-B14F-4D97-AF65-F5344CB8AC3E}">
        <p14:creationId xmlns:p14="http://schemas.microsoft.com/office/powerpoint/2010/main" val="2911839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AF4D-5A02-C698-DC28-E0ACF072D36E}"/>
              </a:ext>
            </a:extLst>
          </p:cNvPr>
          <p:cNvSpPr>
            <a:spLocks noGrp="1"/>
          </p:cNvSpPr>
          <p:nvPr>
            <p:ph type="ctrTitle"/>
          </p:nvPr>
        </p:nvSpPr>
        <p:spPr>
          <a:xfrm>
            <a:off x="977736" y="291091"/>
            <a:ext cx="9144000" cy="2387600"/>
          </a:xfrm>
        </p:spPr>
        <p:txBody>
          <a:bodyPr/>
          <a:lstStyle/>
          <a:p>
            <a:r>
              <a:rPr lang="en-AU" dirty="0"/>
              <a:t>Case Study Presentation</a:t>
            </a:r>
            <a:br>
              <a:rPr lang="en-AU" dirty="0"/>
            </a:br>
            <a:endParaRPr lang="en-US" dirty="0"/>
          </a:p>
        </p:txBody>
      </p:sp>
      <p:sp>
        <p:nvSpPr>
          <p:cNvPr id="4" name="TextBox 3">
            <a:extLst>
              <a:ext uri="{FF2B5EF4-FFF2-40B4-BE49-F238E27FC236}">
                <a16:creationId xmlns:a16="http://schemas.microsoft.com/office/drawing/2014/main" id="{19C36721-003C-0F66-FAFA-0800FC47BA94}"/>
              </a:ext>
            </a:extLst>
          </p:cNvPr>
          <p:cNvSpPr txBox="1"/>
          <p:nvPr/>
        </p:nvSpPr>
        <p:spPr>
          <a:xfrm>
            <a:off x="427512" y="2115412"/>
            <a:ext cx="10925298" cy="255454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Subject Code and Title:  		</a:t>
            </a:r>
            <a:r>
              <a:rPr lang="en-AU" sz="3200" dirty="0">
                <a:latin typeface="Times New Roman" panose="02020603050405020304" pitchFamily="18" charset="0"/>
                <a:cs typeface="Times New Roman" panose="02020603050405020304" pitchFamily="18" charset="0"/>
              </a:rPr>
              <a:t>MKT600/MKT6002 Marketing</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Length:                 		 	5 minutes</a:t>
            </a:r>
          </a:p>
          <a:p>
            <a:r>
              <a:rPr lang="en-US" sz="3200" dirty="0">
                <a:latin typeface="Times New Roman" panose="02020603050405020304" pitchFamily="18" charset="0"/>
                <a:cs typeface="Times New Roman" panose="02020603050405020304" pitchFamily="18" charset="0"/>
              </a:rPr>
              <a:t>Submission: 		 		20. 07. 2025</a:t>
            </a:r>
          </a:p>
          <a:p>
            <a:r>
              <a:rPr lang="en-US" sz="3200" dirty="0">
                <a:latin typeface="Times New Roman" panose="02020603050405020304" pitchFamily="18" charset="0"/>
                <a:cs typeface="Times New Roman" panose="02020603050405020304" pitchFamily="18" charset="0"/>
              </a:rPr>
              <a:t>Weighting: 				25%</a:t>
            </a:r>
          </a:p>
          <a:p>
            <a:r>
              <a:rPr lang="en-US" sz="3200" dirty="0">
                <a:latin typeface="Times New Roman" panose="02020603050405020304" pitchFamily="18" charset="0"/>
                <a:cs typeface="Times New Roman" panose="02020603050405020304" pitchFamily="18" charset="0"/>
              </a:rPr>
              <a:t>Total Marks: 		 		100 marks</a:t>
            </a:r>
          </a:p>
        </p:txBody>
      </p:sp>
    </p:spTree>
    <p:extLst>
      <p:ext uri="{BB962C8B-B14F-4D97-AF65-F5344CB8AC3E}">
        <p14:creationId xmlns:p14="http://schemas.microsoft.com/office/powerpoint/2010/main" val="156490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AF91A-AA84-5014-F3CD-749B978410FB}"/>
              </a:ext>
            </a:extLst>
          </p:cNvPr>
          <p:cNvSpPr>
            <a:spLocks noGrp="1"/>
          </p:cNvSpPr>
          <p:nvPr>
            <p:ph type="title"/>
          </p:nvPr>
        </p:nvSpPr>
        <p:spPr/>
        <p:txBody>
          <a:bodyPr/>
          <a:lstStyle/>
          <a:p>
            <a:r>
              <a:rPr lang="en-AU" b="1" dirty="0">
                <a:latin typeface="Times New Roman" panose="02020603050405020304" pitchFamily="18" charset="0"/>
                <a:cs typeface="Times New Roman" panose="02020603050405020304" pitchFamily="18" charset="0"/>
              </a:rPr>
              <a:t>Introduction Summary</a:t>
            </a:r>
            <a:br>
              <a:rPr lang="en-AU" b="1" dirty="0"/>
            </a:br>
            <a:endParaRPr lang="en-US" dirty="0"/>
          </a:p>
        </p:txBody>
      </p:sp>
      <p:sp>
        <p:nvSpPr>
          <p:cNvPr id="3" name="Content Placeholder 2">
            <a:extLst>
              <a:ext uri="{FF2B5EF4-FFF2-40B4-BE49-F238E27FC236}">
                <a16:creationId xmlns:a16="http://schemas.microsoft.com/office/drawing/2014/main" id="{BA83EA0E-886F-5C7B-261A-64B75D0F2D6B}"/>
              </a:ext>
            </a:extLst>
          </p:cNvPr>
          <p:cNvSpPr>
            <a:spLocks noGrp="1"/>
          </p:cNvSpPr>
          <p:nvPr>
            <p:ph idx="1"/>
          </p:nvPr>
        </p:nvSpPr>
        <p:spPr>
          <a:xfrm>
            <a:off x="178131" y="1469366"/>
            <a:ext cx="11175670" cy="4351338"/>
          </a:xfrm>
        </p:spPr>
        <p:txBody>
          <a:bodyPr>
            <a:normAutofit fontScale="92500" lnSpcReduction="20000"/>
          </a:bodyPr>
          <a:lstStyle/>
          <a:p>
            <a:pPr marL="0" indent="0">
              <a:lnSpc>
                <a:spcPct val="200000"/>
              </a:lnSpc>
              <a:buNone/>
            </a:pPr>
            <a:r>
              <a:rPr lang="en-AU" sz="2000" dirty="0">
                <a:latin typeface="Times New Roman" panose="02020603050405020304" pitchFamily="18" charset="0"/>
                <a:cs typeface="Times New Roman" panose="02020603050405020304" pitchFamily="18" charset="0"/>
              </a:rPr>
              <a:t>CompanyX is reshaping global mobility by making movement fast, seamless, and meaningful. Its mission is to empower individuals to travel, earn, and access goods through continual innovation in transportation technology. Founded in 2009 in San Francisco, the company has evolved from a pioneering ride-hailing start-up into a comprehensive platform offering transport, delivery, and freight solutions. Through its mobile app, it connects riders, drivers, and businesses in real time. With a focus on user-centric design and sustainability, services like POOL and Reservations improve efficiency and reduce environmental impact. CompanyX’s future success hinges on staying agile, navigating regulatory challenges, and expanding smart mobility in a competitive global market (Uber Technologies Inc., 2024).</a:t>
            </a:r>
          </a:p>
          <a:p>
            <a:pPr>
              <a:lnSpc>
                <a:spcPct val="2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2163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2A186-1549-ABA9-FB54-89E55011B60F}"/>
              </a:ext>
            </a:extLst>
          </p:cNvPr>
          <p:cNvSpPr>
            <a:spLocks noGrp="1"/>
          </p:cNvSpPr>
          <p:nvPr>
            <p:ph type="title"/>
          </p:nvPr>
        </p:nvSpPr>
        <p:spPr>
          <a:xfrm>
            <a:off x="838200" y="115744"/>
            <a:ext cx="10515600" cy="1325563"/>
          </a:xfrm>
        </p:spPr>
        <p:txBody>
          <a:bodyPr/>
          <a:lstStyle/>
          <a:p>
            <a:r>
              <a:rPr lang="en-AU" b="1" dirty="0">
                <a:latin typeface="Times New Roman" panose="02020603050405020304" pitchFamily="18" charset="0"/>
                <a:cs typeface="Times New Roman" panose="02020603050405020304" pitchFamily="18" charset="0"/>
              </a:rPr>
              <a:t>Key Services:</a:t>
            </a:r>
            <a:br>
              <a:rPr lang="en-AU"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8578C7C-115B-34A2-62A2-C414F2566C5F}"/>
              </a:ext>
            </a:extLst>
          </p:cNvPr>
          <p:cNvSpPr txBox="1"/>
          <p:nvPr/>
        </p:nvSpPr>
        <p:spPr>
          <a:xfrm>
            <a:off x="648194" y="1075567"/>
            <a:ext cx="11084626" cy="5557740"/>
          </a:xfrm>
          <a:prstGeom prst="rect">
            <a:avLst/>
          </a:prstGeom>
          <a:noFill/>
        </p:spPr>
        <p:txBody>
          <a:bodyPr wrap="square" rtlCol="0">
            <a:spAutoFit/>
          </a:bodyPr>
          <a:lstStyle/>
          <a:p>
            <a:pPr>
              <a:lnSpc>
                <a:spcPct val="200000"/>
              </a:lnSpc>
            </a:pPr>
            <a:r>
              <a:rPr lang="en-AU" b="1" dirty="0">
                <a:latin typeface="Times New Roman" panose="02020603050405020304" pitchFamily="18" charset="0"/>
                <a:cs typeface="Times New Roman" panose="02020603050405020304" pitchFamily="18" charset="0"/>
              </a:rPr>
              <a:t>Ride-Hailing Services</a:t>
            </a:r>
            <a:r>
              <a:rPr lang="en-AU" dirty="0">
                <a:latin typeface="Times New Roman" panose="02020603050405020304" pitchFamily="18" charset="0"/>
                <a:cs typeface="Times New Roman" panose="02020603050405020304" pitchFamily="18" charset="0"/>
              </a:rPr>
              <a:t>: </a:t>
            </a:r>
            <a:r>
              <a:rPr lang="en-AU" b="1" dirty="0" err="1">
                <a:latin typeface="Times New Roman" panose="02020603050405020304" pitchFamily="18" charset="0"/>
                <a:cs typeface="Times New Roman" panose="02020603050405020304" pitchFamily="18" charset="0"/>
              </a:rPr>
              <a:t>CompanyXX</a:t>
            </a:r>
            <a:r>
              <a:rPr lang="en-AU" dirty="0">
                <a:latin typeface="Times New Roman" panose="02020603050405020304" pitchFamily="18" charset="0"/>
                <a:cs typeface="Times New Roman" panose="02020603050405020304" pitchFamily="18" charset="0"/>
              </a:rPr>
              <a:t> (standard), </a:t>
            </a:r>
            <a:r>
              <a:rPr lang="en-AU" b="1" dirty="0">
                <a:latin typeface="Times New Roman" panose="02020603050405020304" pitchFamily="18" charset="0"/>
                <a:cs typeface="Times New Roman" panose="02020603050405020304" pitchFamily="18" charset="0"/>
              </a:rPr>
              <a:t>CompanyX</a:t>
            </a:r>
            <a:r>
              <a:rPr lang="en-AU" dirty="0">
                <a:latin typeface="Times New Roman" panose="02020603050405020304" pitchFamily="18" charset="0"/>
                <a:cs typeface="Times New Roman" panose="02020603050405020304" pitchFamily="18" charset="0"/>
              </a:rPr>
              <a:t> POOL (shared), </a:t>
            </a:r>
            <a:r>
              <a:rPr lang="en-AU" b="1" dirty="0" err="1">
                <a:latin typeface="Times New Roman" panose="02020603050405020304" pitchFamily="18" charset="0"/>
                <a:cs typeface="Times New Roman" panose="02020603050405020304" pitchFamily="18" charset="0"/>
              </a:rPr>
              <a:t>CompanyX</a:t>
            </a:r>
            <a:r>
              <a:rPr lang="en-AU" dirty="0" err="1">
                <a:latin typeface="Times New Roman" panose="02020603050405020304" pitchFamily="18" charset="0"/>
                <a:cs typeface="Times New Roman" panose="02020603050405020304" pitchFamily="18" charset="0"/>
              </a:rPr>
              <a:t>BLACK</a:t>
            </a:r>
            <a:r>
              <a:rPr lang="en-AU" dirty="0">
                <a:latin typeface="Times New Roman" panose="02020603050405020304" pitchFamily="18" charset="0"/>
                <a:cs typeface="Times New Roman" panose="02020603050405020304" pitchFamily="18" charset="0"/>
              </a:rPr>
              <a:t> (premium), </a:t>
            </a:r>
            <a:r>
              <a:rPr lang="en-AU" b="1" dirty="0">
                <a:latin typeface="Times New Roman" panose="02020603050405020304" pitchFamily="18" charset="0"/>
                <a:cs typeface="Times New Roman" panose="02020603050405020304" pitchFamily="18" charset="0"/>
              </a:rPr>
              <a:t>CompanyX</a:t>
            </a:r>
            <a:r>
              <a:rPr lang="en-AU" dirty="0">
                <a:latin typeface="Times New Roman" panose="02020603050405020304" pitchFamily="18" charset="0"/>
                <a:cs typeface="Times New Roman" panose="02020603050405020304" pitchFamily="18" charset="0"/>
              </a:rPr>
              <a:t>XL (large groups), </a:t>
            </a:r>
            <a:r>
              <a:rPr lang="en-AU" b="1" dirty="0">
                <a:latin typeface="Times New Roman" panose="02020603050405020304" pitchFamily="18" charset="0"/>
                <a:cs typeface="Times New Roman" panose="02020603050405020304" pitchFamily="18" charset="0"/>
              </a:rPr>
              <a:t>CompanyX</a:t>
            </a:r>
            <a:r>
              <a:rPr lang="en-AU" dirty="0">
                <a:latin typeface="Times New Roman" panose="02020603050405020304" pitchFamily="18" charset="0"/>
                <a:cs typeface="Times New Roman" panose="02020603050405020304" pitchFamily="18" charset="0"/>
              </a:rPr>
              <a:t> Comfort, </a:t>
            </a:r>
            <a:r>
              <a:rPr lang="en-AU" b="1" dirty="0">
                <a:latin typeface="Times New Roman" panose="02020603050405020304" pitchFamily="18" charset="0"/>
                <a:cs typeface="Times New Roman" panose="02020603050405020304" pitchFamily="18" charset="0"/>
              </a:rPr>
              <a:t>CompanyX</a:t>
            </a:r>
            <a:r>
              <a:rPr lang="en-AU" dirty="0">
                <a:latin typeface="Times New Roman" panose="02020603050405020304" pitchFamily="18" charset="0"/>
                <a:cs typeface="Times New Roman" panose="02020603050405020304" pitchFamily="18" charset="0"/>
              </a:rPr>
              <a:t> Green (EVs), </a:t>
            </a:r>
            <a:r>
              <a:rPr lang="en-AU" b="1" dirty="0">
                <a:latin typeface="Times New Roman" panose="02020603050405020304" pitchFamily="18" charset="0"/>
                <a:cs typeface="Times New Roman" panose="02020603050405020304" pitchFamily="18" charset="0"/>
              </a:rPr>
              <a:t>CompanyX</a:t>
            </a:r>
            <a:r>
              <a:rPr lang="en-AU" dirty="0">
                <a:latin typeface="Times New Roman" panose="02020603050405020304" pitchFamily="18" charset="0"/>
                <a:cs typeface="Times New Roman" panose="02020603050405020304" pitchFamily="18" charset="0"/>
              </a:rPr>
              <a:t> WAV (wheelchair accessible) (Uber technologies Inc., 2024).</a:t>
            </a:r>
            <a:r>
              <a:rPr lang="en-AU" dirty="0">
                <a:effectLst/>
                <a:latin typeface="Times New Roman" panose="02020603050405020304" pitchFamily="18" charset="0"/>
                <a:cs typeface="Times New Roman" panose="02020603050405020304" pitchFamily="18" charset="0"/>
              </a:rPr>
              <a:t> </a:t>
            </a:r>
            <a:endParaRPr lang="en-AU" dirty="0">
              <a:latin typeface="Times New Roman" panose="02020603050405020304" pitchFamily="18" charset="0"/>
              <a:cs typeface="Times New Roman" panose="02020603050405020304" pitchFamily="18" charset="0"/>
            </a:endParaRPr>
          </a:p>
          <a:p>
            <a:pPr lvl="0">
              <a:lnSpc>
                <a:spcPct val="200000"/>
              </a:lnSpc>
            </a:pPr>
            <a:r>
              <a:rPr lang="en-AU" b="1" dirty="0">
                <a:latin typeface="Times New Roman" panose="02020603050405020304" pitchFamily="18" charset="0"/>
                <a:cs typeface="Times New Roman" panose="02020603050405020304" pitchFamily="18" charset="0"/>
              </a:rPr>
              <a:t>CompanyX Eats</a:t>
            </a:r>
            <a:r>
              <a:rPr lang="en-AU" dirty="0">
                <a:latin typeface="Times New Roman" panose="02020603050405020304" pitchFamily="18" charset="0"/>
                <a:cs typeface="Times New Roman" panose="02020603050405020304" pitchFamily="18" charset="0"/>
              </a:rPr>
              <a:t>: On-demand food delivery from local restaurants.</a:t>
            </a:r>
          </a:p>
          <a:p>
            <a:pPr lvl="0">
              <a:lnSpc>
                <a:spcPct val="200000"/>
              </a:lnSpc>
            </a:pPr>
            <a:r>
              <a:rPr lang="en-AU" b="1" dirty="0">
                <a:latin typeface="Times New Roman" panose="02020603050405020304" pitchFamily="18" charset="0"/>
                <a:cs typeface="Times New Roman" panose="02020603050405020304" pitchFamily="18" charset="0"/>
              </a:rPr>
              <a:t>CompanyX Freight</a:t>
            </a:r>
            <a:r>
              <a:rPr lang="en-AU" dirty="0">
                <a:latin typeface="Times New Roman" panose="02020603050405020304" pitchFamily="18" charset="0"/>
                <a:cs typeface="Times New Roman" panose="02020603050405020304" pitchFamily="18" charset="0"/>
              </a:rPr>
              <a:t>: Logistics platform connecting shippers with carriers.</a:t>
            </a:r>
          </a:p>
          <a:p>
            <a:pPr lvl="0">
              <a:lnSpc>
                <a:spcPct val="200000"/>
              </a:lnSpc>
            </a:pPr>
            <a:r>
              <a:rPr lang="en-AU" b="1" dirty="0">
                <a:latin typeface="Times New Roman" panose="02020603050405020304" pitchFamily="18" charset="0"/>
                <a:cs typeface="Times New Roman" panose="02020603050405020304" pitchFamily="18" charset="0"/>
              </a:rPr>
              <a:t>CompanyX Health</a:t>
            </a:r>
            <a:r>
              <a:rPr lang="en-AU" dirty="0">
                <a:latin typeface="Times New Roman" panose="02020603050405020304" pitchFamily="18" charset="0"/>
                <a:cs typeface="Times New Roman" panose="02020603050405020304" pitchFamily="18" charset="0"/>
              </a:rPr>
              <a:t>: Non-emergency medical transportation for patients.</a:t>
            </a:r>
          </a:p>
          <a:p>
            <a:pPr lvl="0">
              <a:lnSpc>
                <a:spcPct val="200000"/>
              </a:lnSpc>
            </a:pPr>
            <a:r>
              <a:rPr lang="en-AU" b="1" dirty="0">
                <a:latin typeface="Times New Roman" panose="02020603050405020304" pitchFamily="18" charset="0"/>
                <a:cs typeface="Times New Roman" panose="02020603050405020304" pitchFamily="18" charset="0"/>
              </a:rPr>
              <a:t>CompanyX for Business</a:t>
            </a:r>
            <a:r>
              <a:rPr lang="en-AU" dirty="0">
                <a:latin typeface="Times New Roman" panose="02020603050405020304" pitchFamily="18" charset="0"/>
                <a:cs typeface="Times New Roman" panose="02020603050405020304" pitchFamily="18" charset="0"/>
              </a:rPr>
              <a:t>: Corporate travel and delivery solutions.</a:t>
            </a:r>
          </a:p>
          <a:p>
            <a:pPr lvl="0">
              <a:lnSpc>
                <a:spcPct val="200000"/>
              </a:lnSpc>
            </a:pPr>
            <a:r>
              <a:rPr lang="en-AU" b="1" dirty="0">
                <a:latin typeface="Times New Roman" panose="02020603050405020304" pitchFamily="18" charset="0"/>
                <a:cs typeface="Times New Roman" panose="02020603050405020304" pitchFamily="18" charset="0"/>
              </a:rPr>
              <a:t>Micromobility</a:t>
            </a:r>
            <a:r>
              <a:rPr lang="en-AU" dirty="0">
                <a:latin typeface="Times New Roman" panose="02020603050405020304" pitchFamily="18" charset="0"/>
                <a:cs typeface="Times New Roman" panose="02020603050405020304" pitchFamily="18" charset="0"/>
              </a:rPr>
              <a:t>: Electric bikes and scooters in select cities.</a:t>
            </a:r>
          </a:p>
          <a:p>
            <a:pPr lvl="0">
              <a:lnSpc>
                <a:spcPct val="200000"/>
              </a:lnSpc>
            </a:pPr>
            <a:r>
              <a:rPr lang="en-AU" b="1" dirty="0">
                <a:latin typeface="Times New Roman" panose="02020603050405020304" pitchFamily="18" charset="0"/>
                <a:cs typeface="Times New Roman" panose="02020603050405020304" pitchFamily="18" charset="0"/>
              </a:rPr>
              <a:t>CompanyX Connect</a:t>
            </a:r>
            <a:r>
              <a:rPr lang="en-AU" dirty="0">
                <a:latin typeface="Times New Roman" panose="02020603050405020304" pitchFamily="18" charset="0"/>
                <a:cs typeface="Times New Roman" panose="02020603050405020304" pitchFamily="18" charset="0"/>
              </a:rPr>
              <a:t>: Same-day package delivery service.</a:t>
            </a:r>
          </a:p>
          <a:p>
            <a:pPr>
              <a:lnSpc>
                <a:spcPct val="2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4089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DECB-A2C5-A162-5052-ADB87EC09ED2}"/>
              </a:ext>
            </a:extLst>
          </p:cNvPr>
          <p:cNvSpPr>
            <a:spLocks noGrp="1"/>
          </p:cNvSpPr>
          <p:nvPr>
            <p:ph type="title"/>
          </p:nvPr>
        </p:nvSpPr>
        <p:spPr>
          <a:xfrm>
            <a:off x="719447" y="115743"/>
            <a:ext cx="10515600" cy="1325563"/>
          </a:xfrm>
        </p:spPr>
        <p:txBody>
          <a:bodyPr>
            <a:normAutofit fontScale="90000"/>
          </a:bodyPr>
          <a:lstStyle/>
          <a:p>
            <a:r>
              <a:rPr lang="en-AU" sz="3600" b="1" dirty="0">
                <a:latin typeface="Times New Roman" panose="02020603050405020304" pitchFamily="18" charset="0"/>
                <a:cs typeface="Times New Roman" panose="02020603050405020304" pitchFamily="18" charset="0"/>
              </a:rPr>
              <a:t>STP Model: Segmentation, Targeting, and Positioning</a:t>
            </a:r>
            <a:br>
              <a:rPr lang="en-AU"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7A96332-E0B7-C44D-B75C-3094AA08800E}"/>
              </a:ext>
            </a:extLst>
          </p:cNvPr>
          <p:cNvSpPr txBox="1"/>
          <p:nvPr/>
        </p:nvSpPr>
        <p:spPr>
          <a:xfrm>
            <a:off x="439389" y="1588283"/>
            <a:ext cx="11590316" cy="4596579"/>
          </a:xfrm>
          <a:prstGeom prst="rect">
            <a:avLst/>
          </a:prstGeom>
          <a:noFill/>
        </p:spPr>
        <p:txBody>
          <a:bodyPr wrap="square" rtlCol="0">
            <a:spAutoFit/>
          </a:bodyPr>
          <a:lstStyle/>
          <a:p>
            <a:r>
              <a:rPr lang="en-AU" sz="2800" b="1" dirty="0">
                <a:latin typeface="Times New Roman" panose="02020603050405020304" pitchFamily="18" charset="0"/>
                <a:cs typeface="Times New Roman" panose="02020603050405020304" pitchFamily="18" charset="0"/>
              </a:rPr>
              <a:t>CompanyX – Segmentation Strategy Summary</a:t>
            </a:r>
          </a:p>
          <a:p>
            <a:pPr>
              <a:lnSpc>
                <a:spcPct val="150000"/>
              </a:lnSpc>
            </a:pPr>
            <a:endParaRPr lang="en-AU" dirty="0">
              <a:latin typeface="Times New Roman" panose="02020603050405020304" pitchFamily="18" charset="0"/>
              <a:cs typeface="Times New Roman" panose="02020603050405020304" pitchFamily="18" charset="0"/>
            </a:endParaRPr>
          </a:p>
          <a:p>
            <a:pPr>
              <a:lnSpc>
                <a:spcPct val="150000"/>
              </a:lnSpc>
            </a:pPr>
            <a:r>
              <a:rPr lang="en-AU" sz="1600" dirty="0">
                <a:latin typeface="Times New Roman" panose="02020603050405020304" pitchFamily="18" charset="0"/>
                <a:cs typeface="Times New Roman" panose="02020603050405020304" pitchFamily="18" charset="0"/>
              </a:rPr>
              <a:t>CompanyX uses a multi-segment approach across its core business units—</a:t>
            </a:r>
            <a:r>
              <a:rPr lang="en-AU" sz="1600" b="1" dirty="0">
                <a:latin typeface="Times New Roman" panose="02020603050405020304" pitchFamily="18" charset="0"/>
                <a:cs typeface="Times New Roman" panose="02020603050405020304" pitchFamily="18" charset="0"/>
              </a:rPr>
              <a:t>Mobility</a:t>
            </a:r>
            <a:r>
              <a:rPr lang="en-AU" sz="1600" dirty="0">
                <a:latin typeface="Times New Roman" panose="02020603050405020304" pitchFamily="18" charset="0"/>
                <a:cs typeface="Times New Roman" panose="02020603050405020304" pitchFamily="18" charset="0"/>
              </a:rPr>
              <a:t>, </a:t>
            </a:r>
            <a:r>
              <a:rPr lang="en-AU" sz="1600" b="1" dirty="0">
                <a:latin typeface="Times New Roman" panose="02020603050405020304" pitchFamily="18" charset="0"/>
                <a:cs typeface="Times New Roman" panose="02020603050405020304" pitchFamily="18" charset="0"/>
              </a:rPr>
              <a:t>Delivery</a:t>
            </a:r>
            <a:r>
              <a:rPr lang="en-AU" sz="1600" dirty="0">
                <a:latin typeface="Times New Roman" panose="02020603050405020304" pitchFamily="18" charset="0"/>
                <a:cs typeface="Times New Roman" panose="02020603050405020304" pitchFamily="18" charset="0"/>
              </a:rPr>
              <a:t>, and </a:t>
            </a:r>
            <a:r>
              <a:rPr lang="en-AU" sz="1600" b="1" dirty="0">
                <a:latin typeface="Times New Roman" panose="02020603050405020304" pitchFamily="18" charset="0"/>
                <a:cs typeface="Times New Roman" panose="02020603050405020304" pitchFamily="18" charset="0"/>
              </a:rPr>
              <a:t>Freight</a:t>
            </a:r>
            <a:r>
              <a:rPr lang="en-AU" sz="1600" dirty="0">
                <a:latin typeface="Times New Roman" panose="02020603050405020304" pitchFamily="18" charset="0"/>
                <a:cs typeface="Times New Roman" panose="02020603050405020304" pitchFamily="18" charset="0"/>
              </a:rPr>
              <a:t>—by aligning marketing strategies with customer traits and operational focus (Uber Technologies Inc., 2024).</a:t>
            </a:r>
          </a:p>
          <a:p>
            <a:pPr lvl="0">
              <a:lnSpc>
                <a:spcPct val="150000"/>
              </a:lnSpc>
            </a:pPr>
            <a:r>
              <a:rPr lang="en-AU" sz="1600" b="1" dirty="0">
                <a:latin typeface="Times New Roman" panose="02020603050405020304" pitchFamily="18" charset="0"/>
                <a:cs typeface="Times New Roman" panose="02020603050405020304" pitchFamily="18" charset="0"/>
              </a:rPr>
              <a:t>Customer-Based Segmentation</a:t>
            </a:r>
            <a:r>
              <a:rPr lang="en-AU" sz="1600" dirty="0">
                <a:latin typeface="Times New Roman" panose="02020603050405020304" pitchFamily="18" charset="0"/>
                <a:cs typeface="Times New Roman" panose="02020603050405020304" pitchFamily="18" charset="0"/>
              </a:rPr>
              <a:t>: Targets users based on demographics, location, lifestyle, and behaviour.</a:t>
            </a:r>
          </a:p>
          <a:p>
            <a:pPr lvl="0">
              <a:lnSpc>
                <a:spcPct val="150000"/>
              </a:lnSpc>
            </a:pPr>
            <a:r>
              <a:rPr lang="en-AU" sz="1600" b="1" dirty="0">
                <a:latin typeface="Times New Roman" panose="02020603050405020304" pitchFamily="18" charset="0"/>
                <a:cs typeface="Times New Roman" panose="02020603050405020304" pitchFamily="18" charset="0"/>
              </a:rPr>
              <a:t>Business-Level Segmentation</a:t>
            </a:r>
            <a:r>
              <a:rPr lang="en-AU" sz="1600" dirty="0">
                <a:latin typeface="Times New Roman" panose="02020603050405020304" pitchFamily="18" charset="0"/>
                <a:cs typeface="Times New Roman" panose="02020603050405020304" pitchFamily="18" charset="0"/>
              </a:rPr>
              <a:t>: Structures services around service type and operational purpose.</a:t>
            </a:r>
          </a:p>
          <a:p>
            <a:pPr>
              <a:lnSpc>
                <a:spcPct val="150000"/>
              </a:lnSpc>
            </a:pPr>
            <a:r>
              <a:rPr lang="en-AU" sz="1600" b="1" dirty="0">
                <a:latin typeface="Times New Roman" panose="02020603050405020304" pitchFamily="18" charset="0"/>
                <a:cs typeface="Times New Roman" panose="02020603050405020304" pitchFamily="18" charset="0"/>
              </a:rPr>
              <a:t>Mobility: </a:t>
            </a:r>
            <a:r>
              <a:rPr lang="en-AU" sz="1600" dirty="0">
                <a:latin typeface="Times New Roman" panose="02020603050405020304" pitchFamily="18" charset="0"/>
                <a:cs typeface="Times New Roman" panose="02020603050405020304" pitchFamily="18" charset="0"/>
              </a:rPr>
              <a:t>Targets commuters and </a:t>
            </a:r>
            <a:r>
              <a:rPr lang="en-AU" sz="1600" dirty="0" err="1">
                <a:latin typeface="Times New Roman" panose="02020603050405020304" pitchFamily="18" charset="0"/>
                <a:cs typeface="Times New Roman" panose="02020603050405020304" pitchFamily="18" charset="0"/>
              </a:rPr>
              <a:t>travelers</a:t>
            </a:r>
            <a:r>
              <a:rPr lang="en-AU" sz="1600" dirty="0">
                <a:latin typeface="Times New Roman" panose="02020603050405020304" pitchFamily="18" charset="0"/>
                <a:cs typeface="Times New Roman" panose="02020603050405020304" pitchFamily="18" charset="0"/>
              </a:rPr>
              <a:t> using age, income, and travel habits to tailor services like </a:t>
            </a:r>
            <a:r>
              <a:rPr lang="en-AU" sz="1600" b="1" dirty="0">
                <a:latin typeface="Times New Roman" panose="02020603050405020304" pitchFamily="18" charset="0"/>
                <a:cs typeface="Times New Roman" panose="02020603050405020304" pitchFamily="18" charset="0"/>
              </a:rPr>
              <a:t>Comfort</a:t>
            </a:r>
            <a:r>
              <a:rPr lang="en-AU" sz="1600" dirty="0">
                <a:latin typeface="Times New Roman" panose="02020603050405020304" pitchFamily="18" charset="0"/>
                <a:cs typeface="Times New Roman" panose="02020603050405020304" pitchFamily="18" charset="0"/>
              </a:rPr>
              <a:t> and </a:t>
            </a:r>
            <a:r>
              <a:rPr lang="en-AU" sz="1600" b="1" dirty="0">
                <a:latin typeface="Times New Roman" panose="02020603050405020304" pitchFamily="18" charset="0"/>
                <a:cs typeface="Times New Roman" panose="02020603050405020304" pitchFamily="18" charset="0"/>
              </a:rPr>
              <a:t>POOL</a:t>
            </a:r>
            <a:r>
              <a:rPr lang="en-AU" sz="1600" dirty="0">
                <a:latin typeface="Times New Roman" panose="02020603050405020304" pitchFamily="18" charset="0"/>
                <a:cs typeface="Times New Roman" panose="02020603050405020304" pitchFamily="18" charset="0"/>
              </a:rPr>
              <a:t>.</a:t>
            </a:r>
            <a:endParaRPr lang="en-AU" sz="1600" b="1" dirty="0">
              <a:latin typeface="Times New Roman" panose="02020603050405020304" pitchFamily="18" charset="0"/>
              <a:cs typeface="Times New Roman" panose="02020603050405020304" pitchFamily="18" charset="0"/>
            </a:endParaRPr>
          </a:p>
          <a:p>
            <a:pPr>
              <a:lnSpc>
                <a:spcPct val="150000"/>
              </a:lnSpc>
            </a:pPr>
            <a:r>
              <a:rPr lang="en-AU" sz="1600" b="1" dirty="0">
                <a:latin typeface="Times New Roman" panose="02020603050405020304" pitchFamily="18" charset="0"/>
                <a:cs typeface="Times New Roman" panose="02020603050405020304" pitchFamily="18" charset="0"/>
              </a:rPr>
              <a:t>Delivery: </a:t>
            </a:r>
            <a:r>
              <a:rPr lang="en-AU" sz="1600" dirty="0">
                <a:latin typeface="Times New Roman" panose="02020603050405020304" pitchFamily="18" charset="0"/>
                <a:cs typeface="Times New Roman" panose="02020603050405020304" pitchFamily="18" charset="0"/>
              </a:rPr>
              <a:t>Appeals to convenience-focused users by leveraging psychographic insights into food, retail, and alcohol delivery habits.</a:t>
            </a:r>
            <a:endParaRPr lang="en-AU" sz="1600" b="1" dirty="0">
              <a:latin typeface="Times New Roman" panose="02020603050405020304" pitchFamily="18" charset="0"/>
              <a:cs typeface="Times New Roman" panose="02020603050405020304" pitchFamily="18" charset="0"/>
            </a:endParaRPr>
          </a:p>
          <a:p>
            <a:pPr>
              <a:lnSpc>
                <a:spcPct val="150000"/>
              </a:lnSpc>
            </a:pPr>
            <a:r>
              <a:rPr lang="en-AU" sz="1600" b="1" dirty="0">
                <a:latin typeface="Times New Roman" panose="02020603050405020304" pitchFamily="18" charset="0"/>
                <a:cs typeface="Times New Roman" panose="02020603050405020304" pitchFamily="18" charset="0"/>
              </a:rPr>
              <a:t>Freight:</a:t>
            </a:r>
            <a:r>
              <a:rPr lang="en-AU" sz="1600" dirty="0">
                <a:latin typeface="Times New Roman" panose="02020603050405020304" pitchFamily="18" charset="0"/>
                <a:cs typeface="Times New Roman" panose="02020603050405020304" pitchFamily="18" charset="0"/>
              </a:rPr>
              <a:t> Serves commercial clients through </a:t>
            </a:r>
            <a:r>
              <a:rPr lang="en-AU" sz="1600" dirty="0" err="1">
                <a:latin typeface="Times New Roman" panose="02020603050405020304" pitchFamily="18" charset="0"/>
                <a:cs typeface="Times New Roman" panose="02020603050405020304" pitchFamily="18" charset="0"/>
              </a:rPr>
              <a:t>behavioral</a:t>
            </a:r>
            <a:r>
              <a:rPr lang="en-AU" sz="1600" dirty="0">
                <a:latin typeface="Times New Roman" panose="02020603050405020304" pitchFamily="18" charset="0"/>
                <a:cs typeface="Times New Roman" panose="02020603050405020304" pitchFamily="18" charset="0"/>
              </a:rPr>
              <a:t> segmentation focused on logistics needs and shipping preferences (Uber Technologies Inc., 2024).</a:t>
            </a:r>
          </a:p>
          <a:p>
            <a:pPr>
              <a:lnSpc>
                <a:spcPct val="150000"/>
              </a:lnSpc>
            </a:pPr>
            <a:r>
              <a:rPr lang="en-AU" sz="1600" dirty="0">
                <a:latin typeface="Times New Roman" panose="02020603050405020304" pitchFamily="18" charset="0"/>
                <a:cs typeface="Times New Roman" panose="02020603050405020304" pitchFamily="18" charset="0"/>
              </a:rPr>
              <a:t>Together, these segmentation models enable CompanyX to craft customized experiences and strengthen brand relevance across global markets.</a:t>
            </a:r>
          </a:p>
        </p:txBody>
      </p:sp>
    </p:spTree>
    <p:extLst>
      <p:ext uri="{BB962C8B-B14F-4D97-AF65-F5344CB8AC3E}">
        <p14:creationId xmlns:p14="http://schemas.microsoft.com/office/powerpoint/2010/main" val="776944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4A8CE-B226-19C4-234C-C2F9463CC617}"/>
              </a:ext>
            </a:extLst>
          </p:cNvPr>
          <p:cNvSpPr>
            <a:spLocks noGrp="1"/>
          </p:cNvSpPr>
          <p:nvPr>
            <p:ph type="title"/>
          </p:nvPr>
        </p:nvSpPr>
        <p:spPr/>
        <p:txBody>
          <a:bodyPr>
            <a:normAutofit fontScale="90000"/>
          </a:bodyPr>
          <a:lstStyle/>
          <a:p>
            <a:r>
              <a:rPr lang="en-AU" b="1" dirty="0">
                <a:latin typeface="Times New Roman" panose="02020603050405020304" pitchFamily="18" charset="0"/>
                <a:cs typeface="Times New Roman" panose="02020603050405020304" pitchFamily="18" charset="0"/>
              </a:rPr>
              <a:t>STP Model: </a:t>
            </a:r>
            <a:br>
              <a:rPr lang="en-AU" b="1" dirty="0">
                <a:latin typeface="Times New Roman" panose="02020603050405020304" pitchFamily="18" charset="0"/>
                <a:cs typeface="Times New Roman" panose="02020603050405020304" pitchFamily="18" charset="0"/>
              </a:rPr>
            </a:br>
            <a:r>
              <a:rPr lang="en-AU" b="1" dirty="0">
                <a:latin typeface="Times New Roman" panose="02020603050405020304" pitchFamily="18" charset="0"/>
                <a:cs typeface="Times New Roman" panose="02020603050405020304" pitchFamily="18" charset="0"/>
              </a:rPr>
              <a:t>Segmentation Strategy - CompanyX </a:t>
            </a:r>
            <a:br>
              <a:rPr lang="en-AU"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CBC9AC8-E43B-FE0C-9461-22698AF738A1}"/>
              </a:ext>
            </a:extLst>
          </p:cNvPr>
          <p:cNvGraphicFramePr>
            <a:graphicFrameLocks noGrp="1"/>
          </p:cNvGraphicFramePr>
          <p:nvPr>
            <p:extLst>
              <p:ext uri="{D42A27DB-BD31-4B8C-83A1-F6EECF244321}">
                <p14:modId xmlns:p14="http://schemas.microsoft.com/office/powerpoint/2010/main" val="1266204698"/>
              </p:ext>
            </p:extLst>
          </p:nvPr>
        </p:nvGraphicFramePr>
        <p:xfrm>
          <a:off x="378032" y="2073453"/>
          <a:ext cx="11435936" cy="3971088"/>
        </p:xfrm>
        <a:graphic>
          <a:graphicData uri="http://schemas.openxmlformats.org/drawingml/2006/table">
            <a:tbl>
              <a:tblPr firstRow="1" bandRow="1">
                <a:tableStyleId>{5C22544A-7EE6-4342-B048-85BDC9FD1C3A}</a:tableStyleId>
              </a:tblPr>
              <a:tblGrid>
                <a:gridCol w="2858984">
                  <a:extLst>
                    <a:ext uri="{9D8B030D-6E8A-4147-A177-3AD203B41FA5}">
                      <a16:colId xmlns:a16="http://schemas.microsoft.com/office/drawing/2014/main" val="2106233813"/>
                    </a:ext>
                  </a:extLst>
                </a:gridCol>
                <a:gridCol w="2858984">
                  <a:extLst>
                    <a:ext uri="{9D8B030D-6E8A-4147-A177-3AD203B41FA5}">
                      <a16:colId xmlns:a16="http://schemas.microsoft.com/office/drawing/2014/main" val="79615459"/>
                    </a:ext>
                  </a:extLst>
                </a:gridCol>
                <a:gridCol w="2858984">
                  <a:extLst>
                    <a:ext uri="{9D8B030D-6E8A-4147-A177-3AD203B41FA5}">
                      <a16:colId xmlns:a16="http://schemas.microsoft.com/office/drawing/2014/main" val="55750590"/>
                    </a:ext>
                  </a:extLst>
                </a:gridCol>
                <a:gridCol w="2858984">
                  <a:extLst>
                    <a:ext uri="{9D8B030D-6E8A-4147-A177-3AD203B41FA5}">
                      <a16:colId xmlns:a16="http://schemas.microsoft.com/office/drawing/2014/main" val="821133742"/>
                    </a:ext>
                  </a:extLst>
                </a:gridCol>
              </a:tblGrid>
              <a:tr h="645634">
                <a:tc>
                  <a:txBody>
                    <a:bodyPr/>
                    <a:lstStyle/>
                    <a:p>
                      <a:pPr algn="ctr">
                        <a:buNone/>
                      </a:pPr>
                      <a:r>
                        <a:rPr lang="en-AU" sz="1200" b="1" dirty="0">
                          <a:effectLst/>
                          <a:latin typeface="Times New Roman" panose="02020603050405020304" pitchFamily="18" charset="0"/>
                          <a:ea typeface="Times New Roman" panose="02020603050405020304" pitchFamily="18" charset="0"/>
                          <a:cs typeface="Times New Roman" panose="02020603050405020304" pitchFamily="18" charset="0"/>
                        </a:rPr>
                        <a:t>Segmentation Variable</a:t>
                      </a:r>
                      <a:endParaRPr lang="en-AU"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buNone/>
                      </a:pPr>
                      <a:r>
                        <a:rPr lang="en-AU" sz="1200" b="1">
                          <a:effectLst/>
                          <a:latin typeface="Times New Roman" panose="02020603050405020304" pitchFamily="18" charset="0"/>
                          <a:ea typeface="Times New Roman" panose="02020603050405020304" pitchFamily="18" charset="0"/>
                          <a:cs typeface="Times New Roman" panose="02020603050405020304" pitchFamily="18" charset="0"/>
                        </a:rPr>
                        <a:t>Mobility</a:t>
                      </a:r>
                      <a:endParaRPr lang="en-AU"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buNone/>
                      </a:pPr>
                      <a:r>
                        <a:rPr lang="en-AU" sz="1200" b="1">
                          <a:effectLst/>
                          <a:latin typeface="Times New Roman" panose="02020603050405020304" pitchFamily="18" charset="0"/>
                          <a:ea typeface="Times New Roman" panose="02020603050405020304" pitchFamily="18" charset="0"/>
                          <a:cs typeface="Times New Roman" panose="02020603050405020304" pitchFamily="18" charset="0"/>
                        </a:rPr>
                        <a:t>Delivery</a:t>
                      </a:r>
                      <a:endParaRPr lang="en-AU"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buNone/>
                      </a:pPr>
                      <a:r>
                        <a:rPr lang="en-AU" sz="1200" b="1">
                          <a:effectLst/>
                          <a:latin typeface="Times New Roman" panose="02020603050405020304" pitchFamily="18" charset="0"/>
                          <a:ea typeface="Times New Roman" panose="02020603050405020304" pitchFamily="18" charset="0"/>
                          <a:cs typeface="Times New Roman" panose="02020603050405020304" pitchFamily="18" charset="0"/>
                        </a:rPr>
                        <a:t>Freight</a:t>
                      </a:r>
                      <a:endParaRPr lang="en-AU"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50763787"/>
                  </a:ext>
                </a:extLst>
              </a:tr>
              <a:tr h="669955">
                <a:tc>
                  <a:txBody>
                    <a:bodyPr/>
                    <a:lstStyle/>
                    <a:p>
                      <a:pPr>
                        <a:buNone/>
                      </a:pPr>
                      <a:r>
                        <a:rPr lang="en-AU" sz="1200" b="1">
                          <a:effectLst/>
                          <a:latin typeface="Times New Roman" panose="02020603050405020304" pitchFamily="18" charset="0"/>
                          <a:ea typeface="Times New Roman" panose="02020603050405020304" pitchFamily="18" charset="0"/>
                          <a:cs typeface="Times New Roman" panose="02020603050405020304" pitchFamily="18" charset="0"/>
                        </a:rPr>
                        <a:t>Demographic</a:t>
                      </a:r>
                      <a:endParaRPr lang="en-AU"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AU" sz="1200" dirty="0">
                          <a:effectLst/>
                          <a:latin typeface="Times New Roman" panose="02020603050405020304" pitchFamily="18" charset="0"/>
                          <a:ea typeface="Times New Roman" panose="02020603050405020304" pitchFamily="18" charset="0"/>
                          <a:cs typeface="Times New Roman" panose="02020603050405020304" pitchFamily="18" charset="0"/>
                        </a:rPr>
                        <a:t>Ages 18–65, commuters, tourists</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Working adults, families, students</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Business owners, logistics managers</a:t>
                      </a:r>
                    </a:p>
                  </a:txBody>
                  <a:tcPr marL="9525" marR="9525" marT="9525" marB="9525" anchor="ctr"/>
                </a:tc>
                <a:extLst>
                  <a:ext uri="{0D108BD9-81ED-4DB2-BD59-A6C34878D82A}">
                    <a16:rowId xmlns:a16="http://schemas.microsoft.com/office/drawing/2014/main" val="970267528"/>
                  </a:ext>
                </a:extLst>
              </a:tr>
              <a:tr h="669955">
                <a:tc>
                  <a:txBody>
                    <a:bodyPr/>
                    <a:lstStyle/>
                    <a:p>
                      <a:pPr>
                        <a:buNone/>
                      </a:pPr>
                      <a:r>
                        <a:rPr lang="en-AU" sz="1200" b="1">
                          <a:effectLst/>
                          <a:latin typeface="Times New Roman" panose="02020603050405020304" pitchFamily="18" charset="0"/>
                          <a:ea typeface="Times New Roman" panose="02020603050405020304" pitchFamily="18" charset="0"/>
                          <a:cs typeface="Times New Roman" panose="02020603050405020304" pitchFamily="18" charset="0"/>
                        </a:rPr>
                        <a:t>Geographic</a:t>
                      </a:r>
                      <a:endParaRPr lang="en-AU"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Urban centers, airports, metro zones</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Densely populated areas, suburbs</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North America, Europe, industrial zones</a:t>
                      </a:r>
                    </a:p>
                  </a:txBody>
                  <a:tcPr marL="9525" marR="9525" marT="9525" marB="9525" anchor="ctr"/>
                </a:tc>
                <a:extLst>
                  <a:ext uri="{0D108BD9-81ED-4DB2-BD59-A6C34878D82A}">
                    <a16:rowId xmlns:a16="http://schemas.microsoft.com/office/drawing/2014/main" val="46224735"/>
                  </a:ext>
                </a:extLst>
              </a:tr>
              <a:tr h="669955">
                <a:tc>
                  <a:txBody>
                    <a:bodyPr/>
                    <a:lstStyle/>
                    <a:p>
                      <a:pPr>
                        <a:buNone/>
                      </a:pPr>
                      <a:r>
                        <a:rPr lang="en-AU" sz="1200" b="1">
                          <a:effectLst/>
                          <a:latin typeface="Times New Roman" panose="02020603050405020304" pitchFamily="18" charset="0"/>
                          <a:ea typeface="Times New Roman" panose="02020603050405020304" pitchFamily="18" charset="0"/>
                          <a:cs typeface="Times New Roman" panose="02020603050405020304" pitchFamily="18" charset="0"/>
                        </a:rPr>
                        <a:t>Psychographic</a:t>
                      </a:r>
                      <a:endParaRPr lang="en-AU"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Tech-savvy, convenience-driven, sustainable</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Food lovers, time-poor, eco-conscious</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Efficiency-focused, cost-sensitive</a:t>
                      </a:r>
                    </a:p>
                  </a:txBody>
                  <a:tcPr marL="9525" marR="9525" marT="9525" marB="9525" anchor="ctr"/>
                </a:tc>
                <a:extLst>
                  <a:ext uri="{0D108BD9-81ED-4DB2-BD59-A6C34878D82A}">
                    <a16:rowId xmlns:a16="http://schemas.microsoft.com/office/drawing/2014/main" val="1327007270"/>
                  </a:ext>
                </a:extLst>
              </a:tr>
              <a:tr h="669955">
                <a:tc>
                  <a:txBody>
                    <a:bodyPr/>
                    <a:lstStyle/>
                    <a:p>
                      <a:pPr>
                        <a:buNone/>
                      </a:pPr>
                      <a:r>
                        <a:rPr lang="en-AU" sz="1200" b="1" dirty="0">
                          <a:effectLst/>
                          <a:latin typeface="Times New Roman" panose="02020603050405020304" pitchFamily="18" charset="0"/>
                          <a:ea typeface="Times New Roman" panose="02020603050405020304" pitchFamily="18" charset="0"/>
                          <a:cs typeface="Times New Roman" panose="02020603050405020304" pitchFamily="18" charset="0"/>
                        </a:rPr>
                        <a:t>Behavioural</a:t>
                      </a:r>
                      <a:endParaRPr lang="en-AU"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Frequent travelers, occasional riders</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Repeat customers, impulse buyers</a:t>
                      </a:r>
                    </a:p>
                  </a:txBody>
                  <a:tcPr marL="9525" marR="9525" marT="9525" marB="9525" anchor="ctr"/>
                </a:tc>
                <a:tc>
                  <a:txBody>
                    <a:bodyPr/>
                    <a:lstStyle/>
                    <a:p>
                      <a:pPr>
                        <a:buNone/>
                      </a:pPr>
                      <a:r>
                        <a:rPr lang="en-AU" sz="1200">
                          <a:effectLst/>
                          <a:latin typeface="Times New Roman" panose="02020603050405020304" pitchFamily="18" charset="0"/>
                          <a:ea typeface="Times New Roman" panose="02020603050405020304" pitchFamily="18" charset="0"/>
                          <a:cs typeface="Times New Roman" panose="02020603050405020304" pitchFamily="18" charset="0"/>
                        </a:rPr>
                        <a:t>Regular shippers, long-haul logistics firms</a:t>
                      </a:r>
                    </a:p>
                  </a:txBody>
                  <a:tcPr marL="9525" marR="9525" marT="9525" marB="9525" anchor="ctr"/>
                </a:tc>
                <a:extLst>
                  <a:ext uri="{0D108BD9-81ED-4DB2-BD59-A6C34878D82A}">
                    <a16:rowId xmlns:a16="http://schemas.microsoft.com/office/drawing/2014/main" val="4001465965"/>
                  </a:ext>
                </a:extLst>
              </a:tr>
              <a:tr h="645634">
                <a:tc gridSpan="4">
                  <a:txBody>
                    <a:bodyPr/>
                    <a:lstStyle/>
                    <a:p>
                      <a:pPr>
                        <a:buNone/>
                      </a:pPr>
                      <a:r>
                        <a:rPr lang="en-AU" sz="135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AU"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96790657"/>
                  </a:ext>
                </a:extLst>
              </a:tr>
            </a:tbl>
          </a:graphicData>
        </a:graphic>
      </p:graphicFrame>
      <p:sp>
        <p:nvSpPr>
          <p:cNvPr id="6" name="TextBox 5">
            <a:extLst>
              <a:ext uri="{FF2B5EF4-FFF2-40B4-BE49-F238E27FC236}">
                <a16:creationId xmlns:a16="http://schemas.microsoft.com/office/drawing/2014/main" id="{80EC4932-1B89-F012-07CE-58034AB4CF8E}"/>
              </a:ext>
            </a:extLst>
          </p:cNvPr>
          <p:cNvSpPr txBox="1"/>
          <p:nvPr/>
        </p:nvSpPr>
        <p:spPr>
          <a:xfrm>
            <a:off x="2054432" y="6169709"/>
            <a:ext cx="5633850" cy="646331"/>
          </a:xfrm>
          <a:prstGeom prst="rect">
            <a:avLst/>
          </a:prstGeom>
          <a:noFill/>
        </p:spPr>
        <p:txBody>
          <a:bodyPr wrap="none" rtlCol="0">
            <a:spAutoFit/>
          </a:bodyPr>
          <a:lstStyle/>
          <a:p>
            <a:r>
              <a:rPr lang="en-AU" dirty="0"/>
              <a:t>(Torrens University, 2025; Uber Technologies Inc., 2024)</a:t>
            </a:r>
          </a:p>
          <a:p>
            <a:endParaRPr lang="en-US" dirty="0"/>
          </a:p>
        </p:txBody>
      </p:sp>
    </p:spTree>
    <p:extLst>
      <p:ext uri="{BB962C8B-B14F-4D97-AF65-F5344CB8AC3E}">
        <p14:creationId xmlns:p14="http://schemas.microsoft.com/office/powerpoint/2010/main" val="3522067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3E1E-9947-A881-6274-00527D81E0A9}"/>
              </a:ext>
            </a:extLst>
          </p:cNvPr>
          <p:cNvSpPr>
            <a:spLocks noGrp="1"/>
          </p:cNvSpPr>
          <p:nvPr>
            <p:ph type="title"/>
          </p:nvPr>
        </p:nvSpPr>
        <p:spPr/>
        <p:txBody>
          <a:bodyPr>
            <a:normAutofit fontScale="90000"/>
          </a:bodyPr>
          <a:lstStyle/>
          <a:p>
            <a:r>
              <a:rPr lang="en-AU" b="1" dirty="0">
                <a:latin typeface="Times New Roman" panose="02020603050405020304" pitchFamily="18" charset="0"/>
                <a:cs typeface="Times New Roman" panose="02020603050405020304" pitchFamily="18" charset="0"/>
              </a:rPr>
              <a:t>STP Model: Targeting Strategy – CompanyX</a:t>
            </a:r>
            <a:br>
              <a:rPr lang="en-AU"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6B98412-D379-F544-B72F-0B0631592F3D}"/>
              </a:ext>
            </a:extLst>
          </p:cNvPr>
          <p:cNvSpPr txBox="1"/>
          <p:nvPr/>
        </p:nvSpPr>
        <p:spPr>
          <a:xfrm>
            <a:off x="838200" y="1579418"/>
            <a:ext cx="10336481" cy="4801314"/>
          </a:xfrm>
          <a:prstGeom prst="rect">
            <a:avLst/>
          </a:prstGeom>
          <a:noFill/>
        </p:spPr>
        <p:txBody>
          <a:bodyPr wrap="square" rtlCol="0">
            <a:spAutoFit/>
          </a:bodyPr>
          <a:lstStyle/>
          <a:p>
            <a:pPr>
              <a:lnSpc>
                <a:spcPct val="200000"/>
              </a:lnSpc>
            </a:pPr>
            <a:r>
              <a:rPr lang="en-AU" dirty="0">
                <a:latin typeface="Times New Roman" panose="02020603050405020304" pitchFamily="18" charset="0"/>
                <a:cs typeface="Times New Roman" panose="02020603050405020304" pitchFamily="18" charset="0"/>
              </a:rPr>
              <a:t>CompanyX adopts a </a:t>
            </a:r>
            <a:r>
              <a:rPr lang="en-AU" b="1" dirty="0">
                <a:latin typeface="Times New Roman" panose="02020603050405020304" pitchFamily="18" charset="0"/>
                <a:cs typeface="Times New Roman" panose="02020603050405020304" pitchFamily="18" charset="0"/>
              </a:rPr>
              <a:t>differentiated targeting approach</a:t>
            </a:r>
            <a:r>
              <a:rPr lang="en-AU" dirty="0">
                <a:latin typeface="Times New Roman" panose="02020603050405020304" pitchFamily="18" charset="0"/>
                <a:cs typeface="Times New Roman" panose="02020603050405020304" pitchFamily="18" charset="0"/>
              </a:rPr>
              <a:t>, catering to diverse market segments with tailored offerings:</a:t>
            </a:r>
          </a:p>
          <a:p>
            <a:pPr>
              <a:lnSpc>
                <a:spcPct val="200000"/>
              </a:lnSpc>
            </a:pPr>
            <a:r>
              <a:rPr lang="en-AU" b="1" dirty="0">
                <a:latin typeface="Times New Roman" panose="02020603050405020304" pitchFamily="18" charset="0"/>
                <a:cs typeface="Times New Roman" panose="02020603050405020304" pitchFamily="18" charset="0"/>
              </a:rPr>
              <a:t>Budget-conscious individuals</a:t>
            </a:r>
            <a:r>
              <a:rPr lang="en-AU" dirty="0">
                <a:latin typeface="Times New Roman" panose="02020603050405020304" pitchFamily="18" charset="0"/>
                <a:cs typeface="Times New Roman" panose="02020603050405020304" pitchFamily="18" charset="0"/>
              </a:rPr>
              <a:t> → Affordable options like CompanyX Pool and standard rides</a:t>
            </a:r>
          </a:p>
          <a:p>
            <a:pPr>
              <a:lnSpc>
                <a:spcPct val="200000"/>
              </a:lnSpc>
            </a:pPr>
            <a:r>
              <a:rPr lang="en-AU" b="1" dirty="0">
                <a:latin typeface="Times New Roman" panose="02020603050405020304" pitchFamily="18" charset="0"/>
                <a:cs typeface="Times New Roman" panose="02020603050405020304" pitchFamily="18" charset="0"/>
              </a:rPr>
              <a:t>Premium customers</a:t>
            </a:r>
            <a:r>
              <a:rPr lang="en-AU" dirty="0">
                <a:latin typeface="Times New Roman" panose="02020603050405020304" pitchFamily="18" charset="0"/>
                <a:cs typeface="Times New Roman" panose="02020603050405020304" pitchFamily="18" charset="0"/>
              </a:rPr>
              <a:t> → High-end services such as CompanyX Comfort and executive transport</a:t>
            </a:r>
          </a:p>
          <a:p>
            <a:pPr>
              <a:lnSpc>
                <a:spcPct val="200000"/>
              </a:lnSpc>
            </a:pPr>
            <a:r>
              <a:rPr lang="en-AU" b="1" dirty="0">
                <a:latin typeface="Times New Roman" panose="02020603050405020304" pitchFamily="18" charset="0"/>
                <a:cs typeface="Times New Roman" panose="02020603050405020304" pitchFamily="18" charset="0"/>
              </a:rPr>
              <a:t>Corporate clients</a:t>
            </a:r>
            <a:r>
              <a:rPr lang="en-AU" dirty="0">
                <a:latin typeface="Times New Roman" panose="02020603050405020304" pitchFamily="18" charset="0"/>
                <a:cs typeface="Times New Roman" panose="02020603050405020304" pitchFamily="18" charset="0"/>
              </a:rPr>
              <a:t> → Business-focused solutions through CompanyX for Business</a:t>
            </a:r>
          </a:p>
          <a:p>
            <a:pPr>
              <a:lnSpc>
                <a:spcPct val="200000"/>
              </a:lnSpc>
            </a:pPr>
            <a:r>
              <a:rPr lang="en-AU" b="1" dirty="0">
                <a:latin typeface="Times New Roman" panose="02020603050405020304" pitchFamily="18" charset="0"/>
                <a:cs typeface="Times New Roman" panose="02020603050405020304" pitchFamily="18" charset="0"/>
              </a:rPr>
              <a:t>Consumers seeking convenience</a:t>
            </a:r>
            <a:r>
              <a:rPr lang="en-AU" dirty="0">
                <a:latin typeface="Times New Roman" panose="02020603050405020304" pitchFamily="18" charset="0"/>
                <a:cs typeface="Times New Roman" panose="02020603050405020304" pitchFamily="18" charset="0"/>
              </a:rPr>
              <a:t> → On-demand delivery via CompanyX Eats and CompanyX Direct</a:t>
            </a:r>
          </a:p>
          <a:p>
            <a:pPr>
              <a:lnSpc>
                <a:spcPct val="200000"/>
              </a:lnSpc>
            </a:pPr>
            <a:r>
              <a:rPr lang="en-AU" b="1" dirty="0">
                <a:latin typeface="Times New Roman" panose="02020603050405020304" pitchFamily="18" charset="0"/>
                <a:cs typeface="Times New Roman" panose="02020603050405020304" pitchFamily="18" charset="0"/>
              </a:rPr>
              <a:t>Commercial logistics partners</a:t>
            </a:r>
            <a:r>
              <a:rPr lang="en-AU" dirty="0">
                <a:latin typeface="Times New Roman" panose="02020603050405020304" pitchFamily="18" charset="0"/>
                <a:cs typeface="Times New Roman" panose="02020603050405020304" pitchFamily="18" charset="0"/>
              </a:rPr>
              <a:t> → Freight services powered by CompanyX Freight  (Uber Technologies Inc., 2023)</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904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9935-5B4B-8C67-1380-E11BCB0BDFDB}"/>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STP Model: </a:t>
            </a:r>
            <a:r>
              <a:rPr lang="en-AU" b="1" dirty="0">
                <a:latin typeface="Times New Roman" panose="02020603050405020304" pitchFamily="18" charset="0"/>
                <a:cs typeface="Times New Roman" panose="02020603050405020304" pitchFamily="18" charset="0"/>
              </a:rPr>
              <a:t>Positioning Strategy – CompanyX</a:t>
            </a:r>
            <a:br>
              <a:rPr lang="en-AU"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AF64110-5954-E72D-B782-2EB721A91CD0}"/>
              </a:ext>
            </a:extLst>
          </p:cNvPr>
          <p:cNvSpPr txBox="1"/>
          <p:nvPr/>
        </p:nvSpPr>
        <p:spPr>
          <a:xfrm>
            <a:off x="461158" y="1294410"/>
            <a:ext cx="11269683" cy="4993868"/>
          </a:xfrm>
          <a:prstGeom prst="rect">
            <a:avLst/>
          </a:prstGeom>
          <a:noFill/>
        </p:spPr>
        <p:txBody>
          <a:bodyPr wrap="square" rtlCol="0">
            <a:spAutoFit/>
          </a:bodyPr>
          <a:lstStyle/>
          <a:p>
            <a:pPr>
              <a:lnSpc>
                <a:spcPct val="200000"/>
              </a:lnSpc>
            </a:pPr>
            <a:r>
              <a:rPr lang="en-AU" dirty="0">
                <a:latin typeface="Times New Roman" panose="02020603050405020304" pitchFamily="18" charset="0"/>
                <a:cs typeface="Times New Roman" panose="02020603050405020304" pitchFamily="18" charset="0"/>
              </a:rPr>
              <a:t>CompanyX positions itself as a technology-driven platform that delivers accessible, efficient, and sustainable mobility and delivery experiences.</a:t>
            </a:r>
          </a:p>
          <a:p>
            <a:pPr lvl="0">
              <a:lnSpc>
                <a:spcPct val="200000"/>
              </a:lnSpc>
            </a:pPr>
            <a:r>
              <a:rPr lang="en-AU" b="1" dirty="0">
                <a:latin typeface="Times New Roman" panose="02020603050405020304" pitchFamily="18" charset="0"/>
                <a:cs typeface="Times New Roman" panose="02020603050405020304" pitchFamily="18" charset="0"/>
              </a:rPr>
              <a:t>Functional Positioning</a:t>
            </a:r>
            <a:r>
              <a:rPr lang="en-AU" dirty="0">
                <a:latin typeface="Times New Roman" panose="02020603050405020304" pitchFamily="18" charset="0"/>
                <a:cs typeface="Times New Roman" panose="02020603050405020304" pitchFamily="18" charset="0"/>
              </a:rPr>
              <a:t>: Emphasizes reliability, ease of access, and operational efficiency. For example, drivers are supported by policies that encourage waiting up to 10 minutes at pickup points, enhancing rider convenience and trust.</a:t>
            </a:r>
          </a:p>
          <a:p>
            <a:pPr lvl="0">
              <a:lnSpc>
                <a:spcPct val="200000"/>
              </a:lnSpc>
            </a:pPr>
            <a:r>
              <a:rPr lang="en-AU" b="1" dirty="0">
                <a:latin typeface="Times New Roman" panose="02020603050405020304" pitchFamily="18" charset="0"/>
                <a:cs typeface="Times New Roman" panose="02020603050405020304" pitchFamily="18" charset="0"/>
              </a:rPr>
              <a:t>Emotional Positioning</a:t>
            </a:r>
            <a:r>
              <a:rPr lang="en-AU" dirty="0">
                <a:latin typeface="Times New Roman" panose="02020603050405020304" pitchFamily="18" charset="0"/>
                <a:cs typeface="Times New Roman" panose="02020603050405020304" pitchFamily="18" charset="0"/>
              </a:rPr>
              <a:t>: Promotes user autonomy and flexibility, empowering individuals to move, earn, and connect on their own terms.</a:t>
            </a:r>
          </a:p>
          <a:p>
            <a:pPr lvl="0">
              <a:lnSpc>
                <a:spcPct val="200000"/>
              </a:lnSpc>
            </a:pPr>
            <a:r>
              <a:rPr lang="en-AU" b="1" dirty="0">
                <a:latin typeface="Times New Roman" panose="02020603050405020304" pitchFamily="18" charset="0"/>
                <a:cs typeface="Times New Roman" panose="02020603050405020304" pitchFamily="18" charset="0"/>
              </a:rPr>
              <a:t>Eco Positioning</a:t>
            </a:r>
            <a:r>
              <a:rPr lang="en-AU" dirty="0">
                <a:latin typeface="Times New Roman" panose="02020603050405020304" pitchFamily="18" charset="0"/>
                <a:cs typeface="Times New Roman" panose="02020603050405020304" pitchFamily="18" charset="0"/>
              </a:rPr>
              <a:t>: Reinforces commitment to sustainability through electric vehicle initiatives, green ride options, and environmentally conscious delivery methods </a:t>
            </a:r>
            <a:r>
              <a:rPr lang="en-US" dirty="0">
                <a:latin typeface="Times New Roman" panose="02020603050405020304" pitchFamily="18" charset="0"/>
                <a:cs typeface="Times New Roman" panose="02020603050405020304" pitchFamily="18" charset="0"/>
              </a:rPr>
              <a:t>(Maheshwari, 2019)</a:t>
            </a:r>
            <a:r>
              <a:rPr lang="en-AU" dirty="0">
                <a:latin typeface="Times New Roman" panose="02020603050405020304" pitchFamily="18" charset="0"/>
                <a:cs typeface="Times New Roman" panose="02020603050405020304" pitchFamily="18" charset="0"/>
              </a:rPr>
              <a:t>.</a:t>
            </a:r>
          </a:p>
          <a:p>
            <a:pPr>
              <a:lnSpc>
                <a:spcPct val="2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347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1FD11-90BA-AB3B-E72A-78D2F76EF493}"/>
              </a:ext>
            </a:extLst>
          </p:cNvPr>
          <p:cNvSpPr>
            <a:spLocks noGrp="1"/>
          </p:cNvSpPr>
          <p:nvPr>
            <p:ph type="title"/>
          </p:nvPr>
        </p:nvSpPr>
        <p:spPr/>
        <p:txBody>
          <a:bodyPr/>
          <a:lstStyle/>
          <a:p>
            <a:r>
              <a:rPr lang="en-AU" b="1" dirty="0">
                <a:latin typeface="Times New Roman" panose="02020603050405020304" pitchFamily="18" charset="0"/>
                <a:cs typeface="Times New Roman" panose="02020603050405020304" pitchFamily="18" charset="0"/>
              </a:rPr>
              <a:t>Competitive Advantage – CompanyX</a:t>
            </a:r>
            <a:br>
              <a:rPr lang="en-AU"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28D78EE-EDFB-E4C8-E8FB-DEEC04FFBB70}"/>
              </a:ext>
            </a:extLst>
          </p:cNvPr>
          <p:cNvSpPr txBox="1"/>
          <p:nvPr/>
        </p:nvSpPr>
        <p:spPr>
          <a:xfrm>
            <a:off x="225631" y="1163782"/>
            <a:ext cx="11863450" cy="5635902"/>
          </a:xfrm>
          <a:prstGeom prst="rect">
            <a:avLst/>
          </a:prstGeom>
          <a:noFill/>
        </p:spPr>
        <p:txBody>
          <a:bodyPr wrap="square" rtlCol="0">
            <a:spAutoFit/>
          </a:bodyPr>
          <a:lstStyle/>
          <a:p>
            <a:pPr>
              <a:lnSpc>
                <a:spcPct val="200000"/>
              </a:lnSpc>
            </a:pPr>
            <a:r>
              <a:rPr lang="en-AU" sz="1400" dirty="0">
                <a:latin typeface="Times New Roman" panose="02020603050405020304" pitchFamily="18" charset="0"/>
                <a:cs typeface="Times New Roman" panose="02020603050405020304" pitchFamily="18" charset="0"/>
              </a:rPr>
              <a:t>CompanyX maintains its competitive edge by combining </a:t>
            </a:r>
            <a:r>
              <a:rPr lang="en-AU" sz="1400" b="1" dirty="0">
                <a:latin typeface="Times New Roman" panose="02020603050405020304" pitchFamily="18" charset="0"/>
                <a:cs typeface="Times New Roman" panose="02020603050405020304" pitchFamily="18" charset="0"/>
              </a:rPr>
              <a:t>Porter’s Generic Strategies</a:t>
            </a:r>
            <a:r>
              <a:rPr lang="en-AU" sz="1400" dirty="0">
                <a:latin typeface="Times New Roman" panose="02020603050405020304" pitchFamily="18" charset="0"/>
                <a:cs typeface="Times New Roman" panose="02020603050405020304" pitchFamily="18" charset="0"/>
              </a:rPr>
              <a:t> with targeted innovation to meet global demands while adapting locally </a:t>
            </a:r>
            <a:r>
              <a:rPr lang="en-US" sz="1400" dirty="0">
                <a:latin typeface="Times New Roman" panose="02020603050405020304" pitchFamily="18" charset="0"/>
                <a:cs typeface="Times New Roman" panose="02020603050405020304" pitchFamily="18" charset="0"/>
              </a:rPr>
              <a:t>(McCall, 2024)</a:t>
            </a:r>
            <a:r>
              <a:rPr lang="en-AU" sz="1400" dirty="0">
                <a:latin typeface="Times New Roman" panose="02020603050405020304" pitchFamily="18" charset="0"/>
                <a:cs typeface="Times New Roman" panose="02020603050405020304" pitchFamily="18" charset="0"/>
              </a:rPr>
              <a:t>.</a:t>
            </a:r>
          </a:p>
          <a:p>
            <a:pPr>
              <a:lnSpc>
                <a:spcPct val="200000"/>
              </a:lnSpc>
            </a:pPr>
            <a:r>
              <a:rPr lang="en-AU" sz="1400" b="1" dirty="0">
                <a:latin typeface="Times New Roman" panose="02020603050405020304" pitchFamily="18" charset="0"/>
                <a:cs typeface="Times New Roman" panose="02020603050405020304" pitchFamily="18" charset="0"/>
              </a:rPr>
              <a:t>Cost Leadership Strategy:</a:t>
            </a:r>
          </a:p>
          <a:p>
            <a:pPr marL="742950" lvl="1" indent="-285750">
              <a:lnSpc>
                <a:spcPct val="200000"/>
              </a:lnSpc>
              <a:buFont typeface="Arial" panose="020B0604020202020204" pitchFamily="34" charset="0"/>
              <a:buChar char="•"/>
            </a:pPr>
            <a:r>
              <a:rPr lang="en-AU" sz="1400" dirty="0">
                <a:latin typeface="Times New Roman" panose="02020603050405020304" pitchFamily="18" charset="0"/>
                <a:cs typeface="Times New Roman" panose="02020603050405020304" pitchFamily="18" charset="0"/>
              </a:rPr>
              <a:t>Offers affordable transport via services like CompanyX Pool and standard rides.</a:t>
            </a:r>
          </a:p>
          <a:p>
            <a:pPr marL="742950" lvl="1" indent="-285750">
              <a:lnSpc>
                <a:spcPct val="200000"/>
              </a:lnSpc>
              <a:buFont typeface="Arial" panose="020B0604020202020204" pitchFamily="34" charset="0"/>
              <a:buChar char="•"/>
            </a:pPr>
            <a:r>
              <a:rPr lang="en-AU" sz="1400" dirty="0">
                <a:latin typeface="Times New Roman" panose="02020603050405020304" pitchFamily="18" charset="0"/>
                <a:cs typeface="Times New Roman" panose="02020603050405020304" pitchFamily="18" charset="0"/>
              </a:rPr>
              <a:t>Uses dynamic pricing algorithms and shared travel models to reduce costs for users.</a:t>
            </a:r>
          </a:p>
          <a:p>
            <a:pPr>
              <a:lnSpc>
                <a:spcPct val="200000"/>
              </a:lnSpc>
            </a:pPr>
            <a:r>
              <a:rPr lang="en-AU" sz="1400" b="1" dirty="0">
                <a:latin typeface="Times New Roman" panose="02020603050405020304" pitchFamily="18" charset="0"/>
                <a:cs typeface="Times New Roman" panose="02020603050405020304" pitchFamily="18" charset="0"/>
              </a:rPr>
              <a:t>Differentiation Strategy:</a:t>
            </a:r>
          </a:p>
          <a:p>
            <a:pPr>
              <a:lnSpc>
                <a:spcPct val="200000"/>
              </a:lnSpc>
            </a:pPr>
            <a:r>
              <a:rPr lang="en-AU" sz="1400" dirty="0">
                <a:latin typeface="Times New Roman" panose="02020603050405020304" pitchFamily="18" charset="0"/>
                <a:cs typeface="Times New Roman" panose="02020603050405020304" pitchFamily="18" charset="0"/>
              </a:rPr>
              <a:t>CompanyX stands out through a customized, tech-enhanced service experience </a:t>
            </a:r>
            <a:r>
              <a:rPr lang="en-US" sz="1400" dirty="0">
                <a:latin typeface="Times New Roman" panose="02020603050405020304" pitchFamily="18" charset="0"/>
                <a:cs typeface="Times New Roman" panose="02020603050405020304" pitchFamily="18" charset="0"/>
              </a:rPr>
              <a:t>(McCall, 2024)</a:t>
            </a:r>
            <a:r>
              <a:rPr lang="en-AU" sz="1400" dirty="0">
                <a:latin typeface="Times New Roman" panose="02020603050405020304" pitchFamily="18" charset="0"/>
                <a:cs typeface="Times New Roman" panose="02020603050405020304" pitchFamily="18" charset="0"/>
              </a:rPr>
              <a:t>:</a:t>
            </a:r>
          </a:p>
          <a:p>
            <a:pPr marL="742950" lvl="1" indent="-285750">
              <a:lnSpc>
                <a:spcPct val="200000"/>
              </a:lnSpc>
              <a:buFont typeface="Arial" panose="020B0604020202020204" pitchFamily="34" charset="0"/>
              <a:buChar char="•"/>
            </a:pPr>
            <a:r>
              <a:rPr lang="en-AU" sz="1400" b="1" dirty="0">
                <a:latin typeface="Times New Roman" panose="02020603050405020304" pitchFamily="18" charset="0"/>
                <a:cs typeface="Times New Roman" panose="02020603050405020304" pitchFamily="18" charset="0"/>
              </a:rPr>
              <a:t>Innovation</a:t>
            </a:r>
            <a:r>
              <a:rPr lang="en-AU" sz="1400" dirty="0">
                <a:latin typeface="Times New Roman" panose="02020603050405020304" pitchFamily="18" charset="0"/>
                <a:cs typeface="Times New Roman" panose="02020603050405020304" pitchFamily="18" charset="0"/>
              </a:rPr>
              <a:t>: Real-time tracking, secure payments, driver ratings, and a streamlined interface.</a:t>
            </a:r>
          </a:p>
          <a:p>
            <a:pPr marL="742950" lvl="1" indent="-285750">
              <a:lnSpc>
                <a:spcPct val="200000"/>
              </a:lnSpc>
              <a:buFont typeface="Arial" panose="020B0604020202020204" pitchFamily="34" charset="0"/>
              <a:buChar char="•"/>
            </a:pPr>
            <a:r>
              <a:rPr lang="en-AU" sz="1400" b="1" dirty="0">
                <a:latin typeface="Times New Roman" panose="02020603050405020304" pitchFamily="18" charset="0"/>
                <a:cs typeface="Times New Roman" panose="02020603050405020304" pitchFamily="18" charset="0"/>
              </a:rPr>
              <a:t>Variety</a:t>
            </a:r>
            <a:r>
              <a:rPr lang="en-AU" sz="1400" dirty="0">
                <a:latin typeface="Times New Roman" panose="02020603050405020304" pitchFamily="18" charset="0"/>
                <a:cs typeface="Times New Roman" panose="02020603050405020304" pitchFamily="18" charset="0"/>
              </a:rPr>
              <a:t>: Expanded service offerings across Mobility, Eats, Freight, and more. For instance, advance reservations let riders book trips a day ahead, and drivers receive incentives such as a $12 bonus after completing two trips.</a:t>
            </a:r>
          </a:p>
          <a:p>
            <a:pPr marL="742950" lvl="1" indent="-285750">
              <a:lnSpc>
                <a:spcPct val="200000"/>
              </a:lnSpc>
              <a:buFont typeface="Arial" panose="020B0604020202020204" pitchFamily="34" charset="0"/>
              <a:buChar char="•"/>
            </a:pPr>
            <a:r>
              <a:rPr lang="en-AU" sz="1400" b="1" dirty="0">
                <a:latin typeface="Times New Roman" panose="02020603050405020304" pitchFamily="18" charset="0"/>
                <a:cs typeface="Times New Roman" panose="02020603050405020304" pitchFamily="18" charset="0"/>
              </a:rPr>
              <a:t>Experience Enhancements</a:t>
            </a:r>
            <a:r>
              <a:rPr lang="en-AU" sz="1400" dirty="0">
                <a:latin typeface="Times New Roman" panose="02020603050405020304" pitchFamily="18" charset="0"/>
                <a:cs typeface="Times New Roman" panose="02020603050405020304" pitchFamily="18" charset="0"/>
              </a:rPr>
              <a:t>: Loyalty programs (e.g. CompanyX One), upfront pricing, driver location visibility, and added flexibility like intercity trips that boost driver earnings.</a:t>
            </a:r>
          </a:p>
          <a:p>
            <a:pPr>
              <a:lnSpc>
                <a:spcPct val="20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5886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90E9-99FF-47F7-29E9-002659DE01DA}"/>
              </a:ext>
            </a:extLst>
          </p:cNvPr>
          <p:cNvSpPr>
            <a:spLocks noGrp="1"/>
          </p:cNvSpPr>
          <p:nvPr>
            <p:ph type="title"/>
          </p:nvPr>
        </p:nvSpPr>
        <p:spPr>
          <a:xfrm>
            <a:off x="727363" y="-244910"/>
            <a:ext cx="10515600" cy="1325563"/>
          </a:xfrm>
        </p:spPr>
        <p:txBody>
          <a:bodyPr/>
          <a:lstStyle/>
          <a:p>
            <a:r>
              <a:rPr lang="en-AU" b="1" dirty="0">
                <a:latin typeface="Times New Roman" panose="02020603050405020304" pitchFamily="18" charset="0"/>
                <a:cs typeface="Times New Roman" panose="02020603050405020304" pitchFamily="18" charset="0"/>
              </a:rPr>
              <a:t>Competitive Advantage – CompanyX</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3C30A5B-D40B-0F05-3BCD-FB3A8CD03A82}"/>
              </a:ext>
            </a:extLst>
          </p:cNvPr>
          <p:cNvSpPr txBox="1"/>
          <p:nvPr/>
        </p:nvSpPr>
        <p:spPr>
          <a:xfrm>
            <a:off x="106878" y="1080653"/>
            <a:ext cx="11756571" cy="5355312"/>
          </a:xfrm>
          <a:prstGeom prst="rect">
            <a:avLst/>
          </a:prstGeom>
          <a:noFill/>
        </p:spPr>
        <p:txBody>
          <a:bodyPr wrap="square" rtlCol="0">
            <a:spAutoFit/>
          </a:bodyPr>
          <a:lstStyle/>
          <a:p>
            <a:r>
              <a:rPr lang="en-AU" b="1" dirty="0">
                <a:latin typeface="Times New Roman" panose="02020603050405020304" pitchFamily="18" charset="0"/>
                <a:cs typeface="Times New Roman" panose="02020603050405020304" pitchFamily="18" charset="0"/>
              </a:rPr>
              <a:t>Niche Market Strategy:</a:t>
            </a:r>
          </a:p>
          <a:p>
            <a:pPr marL="742950" lvl="1" indent="-285750">
              <a:buFont typeface="Arial" panose="020B0604020202020204" pitchFamily="34" charset="0"/>
              <a:buChar char="•"/>
            </a:pPr>
            <a:r>
              <a:rPr lang="en-AU" b="1" dirty="0">
                <a:latin typeface="Times New Roman" panose="02020603050405020304" pitchFamily="18" charset="0"/>
                <a:cs typeface="Times New Roman" panose="02020603050405020304" pitchFamily="18" charset="0"/>
              </a:rPr>
              <a:t>Accessible Mobility</a:t>
            </a:r>
            <a:r>
              <a:rPr lang="en-AU" dirty="0">
                <a:latin typeface="Times New Roman" panose="02020603050405020304" pitchFamily="18" charset="0"/>
                <a:cs typeface="Times New Roman" panose="02020603050405020304" pitchFamily="18" charset="0"/>
              </a:rPr>
              <a:t>: CompanyX WAV addresses the needs of riders with disabilities through wheelchair-accessible vehicles.</a:t>
            </a:r>
          </a:p>
          <a:p>
            <a:pPr marL="742950" lvl="1" indent="-285750">
              <a:buFont typeface="Arial" panose="020B0604020202020204" pitchFamily="34" charset="0"/>
              <a:buChar char="•"/>
            </a:pPr>
            <a:r>
              <a:rPr lang="en-AU" b="1" dirty="0">
                <a:latin typeface="Times New Roman" panose="02020603050405020304" pitchFamily="18" charset="0"/>
                <a:cs typeface="Times New Roman" panose="02020603050405020304" pitchFamily="18" charset="0"/>
              </a:rPr>
              <a:t>Healthcare Transport</a:t>
            </a:r>
            <a:r>
              <a:rPr lang="en-AU" dirty="0">
                <a:latin typeface="Times New Roman" panose="02020603050405020304" pitchFamily="18" charset="0"/>
                <a:cs typeface="Times New Roman" panose="02020603050405020304" pitchFamily="18" charset="0"/>
              </a:rPr>
              <a:t>: Specialized offerings like CompanyX Health support patient mobility for non-emergency appointments.</a:t>
            </a:r>
          </a:p>
          <a:p>
            <a:pPr marL="742950" lvl="1" indent="-285750">
              <a:buFont typeface="Arial" panose="020B0604020202020204" pitchFamily="34" charset="0"/>
              <a:buChar char="•"/>
            </a:pPr>
            <a:r>
              <a:rPr lang="en-AU" b="1" dirty="0">
                <a:latin typeface="Times New Roman" panose="02020603050405020304" pitchFamily="18" charset="0"/>
                <a:cs typeface="Times New Roman" panose="02020603050405020304" pitchFamily="18" charset="0"/>
              </a:rPr>
              <a:t>Commercial Logistics</a:t>
            </a:r>
            <a:r>
              <a:rPr lang="en-AU" dirty="0">
                <a:latin typeface="Times New Roman" panose="02020603050405020304" pitchFamily="18" charset="0"/>
                <a:cs typeface="Times New Roman" panose="02020603050405020304" pitchFamily="18" charset="0"/>
              </a:rPr>
              <a:t>: CompanyX Freight serves B2B clients through a digital marketplace, providing real-time pricing and automated shipment tracking across North America and Europe.</a:t>
            </a:r>
          </a:p>
          <a:p>
            <a:r>
              <a:rPr lang="en-AU" b="1" dirty="0">
                <a:latin typeface="Times New Roman" panose="02020603050405020304" pitchFamily="18" charset="0"/>
                <a:cs typeface="Times New Roman" panose="02020603050405020304" pitchFamily="18" charset="0"/>
              </a:rPr>
              <a:t>Blue Ocean Disruption:</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By redefining personal transport and delivery services, CompanyX disrupted traditional models and carved out a new value space—transforming mobility into a platform-based, on-demand service ecosystem.</a:t>
            </a:r>
          </a:p>
          <a:p>
            <a:r>
              <a:rPr lang="en-AU" b="1" dirty="0">
                <a:latin typeface="Times New Roman" panose="02020603050405020304" pitchFamily="18" charset="0"/>
                <a:cs typeface="Times New Roman" panose="02020603050405020304" pitchFamily="18" charset="0"/>
              </a:rPr>
              <a:t> Strategic Partnerships &amp; Driver Incentives:</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Partnerships with other platforms and local businesses help CompanyX expand its market presence and diversify offerings.</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Driver incentives, referral programs, and flexible earning tools grow and retain a large, reliable driver base </a:t>
            </a:r>
            <a:r>
              <a:rPr lang="en-US" dirty="0">
                <a:latin typeface="Times New Roman" panose="02020603050405020304" pitchFamily="18" charset="0"/>
                <a:cs typeface="Times New Roman" panose="02020603050405020304" pitchFamily="18" charset="0"/>
              </a:rPr>
              <a:t>(McCall, 2024)</a:t>
            </a:r>
            <a:r>
              <a:rPr lang="en-AU" dirty="0">
                <a:latin typeface="Times New Roman" panose="02020603050405020304" pitchFamily="18" charset="0"/>
                <a:cs typeface="Times New Roman" panose="02020603050405020304" pitchFamily="18" charset="0"/>
              </a:rPr>
              <a:t>.</a:t>
            </a:r>
          </a:p>
          <a:p>
            <a:endParaRPr lang="en-AU"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Overall, by integrating </a:t>
            </a:r>
            <a:r>
              <a:rPr lang="en-AU" b="1" dirty="0">
                <a:latin typeface="Times New Roman" panose="02020603050405020304" pitchFamily="18" charset="0"/>
                <a:cs typeface="Times New Roman" panose="02020603050405020304" pitchFamily="18" charset="0"/>
              </a:rPr>
              <a:t>cost efficiency</a:t>
            </a:r>
            <a:r>
              <a:rPr lang="en-AU" dirty="0">
                <a:latin typeface="Times New Roman" panose="02020603050405020304" pitchFamily="18" charset="0"/>
                <a:cs typeface="Times New Roman" panose="02020603050405020304" pitchFamily="18" charset="0"/>
              </a:rPr>
              <a:t>, </a:t>
            </a:r>
            <a:r>
              <a:rPr lang="en-AU" b="1" dirty="0">
                <a:latin typeface="Times New Roman" panose="02020603050405020304" pitchFamily="18" charset="0"/>
                <a:cs typeface="Times New Roman" panose="02020603050405020304" pitchFamily="18" charset="0"/>
              </a:rPr>
              <a:t>technological excellence</a:t>
            </a:r>
            <a:r>
              <a:rPr lang="en-AU" dirty="0">
                <a:latin typeface="Times New Roman" panose="02020603050405020304" pitchFamily="18" charset="0"/>
                <a:cs typeface="Times New Roman" panose="02020603050405020304" pitchFamily="18" charset="0"/>
              </a:rPr>
              <a:t>, </a:t>
            </a:r>
            <a:r>
              <a:rPr lang="en-AU" b="1" dirty="0">
                <a:latin typeface="Times New Roman" panose="02020603050405020304" pitchFamily="18" charset="0"/>
                <a:cs typeface="Times New Roman" panose="02020603050405020304" pitchFamily="18" charset="0"/>
              </a:rPr>
              <a:t>diverse offerings</a:t>
            </a:r>
            <a:r>
              <a:rPr lang="en-AU" dirty="0">
                <a:latin typeface="Times New Roman" panose="02020603050405020304" pitchFamily="18" charset="0"/>
                <a:cs typeface="Times New Roman" panose="02020603050405020304" pitchFamily="18" charset="0"/>
              </a:rPr>
              <a:t>, and </a:t>
            </a:r>
            <a:r>
              <a:rPr lang="en-AU" b="1" dirty="0">
                <a:latin typeface="Times New Roman" panose="02020603050405020304" pitchFamily="18" charset="0"/>
                <a:cs typeface="Times New Roman" panose="02020603050405020304" pitchFamily="18" charset="0"/>
              </a:rPr>
              <a:t>strategic segmentation</a:t>
            </a:r>
            <a:r>
              <a:rPr lang="en-AU" dirty="0">
                <a:latin typeface="Times New Roman" panose="02020603050405020304" pitchFamily="18" charset="0"/>
                <a:cs typeface="Times New Roman" panose="02020603050405020304" pitchFamily="18" charset="0"/>
              </a:rPr>
              <a:t>, CompanyX continues to outperform competitors, expand its customer base, and evolve in response to global demand.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5375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DA96-6B54-7ED5-EAE4-8A86034B4145}"/>
              </a:ext>
            </a:extLst>
          </p:cNvPr>
          <p:cNvSpPr>
            <a:spLocks noGrp="1"/>
          </p:cNvSpPr>
          <p:nvPr>
            <p:ph type="title"/>
          </p:nvPr>
        </p:nvSpPr>
        <p:spPr/>
        <p:txBody>
          <a:bodyPr/>
          <a:lstStyle/>
          <a:p>
            <a:r>
              <a:rPr lang="en-AU" b="1" dirty="0">
                <a:latin typeface="Times New Roman" panose="02020603050405020304" pitchFamily="18" charset="0"/>
                <a:cs typeface="Times New Roman" panose="02020603050405020304" pitchFamily="18" charset="0"/>
              </a:rPr>
              <a:t>Marketing Mix (7Ps)</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40B6571-B89D-CEFF-3FF8-CA06440B471A}"/>
              </a:ext>
            </a:extLst>
          </p:cNvPr>
          <p:cNvSpPr txBox="1"/>
          <p:nvPr/>
        </p:nvSpPr>
        <p:spPr>
          <a:xfrm>
            <a:off x="838200" y="1959430"/>
            <a:ext cx="10645239" cy="4247317"/>
          </a:xfrm>
          <a:prstGeom prst="rect">
            <a:avLst/>
          </a:prstGeom>
          <a:noFill/>
        </p:spPr>
        <p:txBody>
          <a:bodyPr wrap="square" rtlCol="0">
            <a:spAutoFit/>
          </a:bodyPr>
          <a:lstStyle/>
          <a:p>
            <a:r>
              <a:rPr lang="en-AU" dirty="0">
                <a:latin typeface="Times New Roman" panose="02020603050405020304" pitchFamily="18" charset="0"/>
                <a:cs typeface="Times New Roman" panose="02020603050405020304" pitchFamily="18" charset="0"/>
              </a:rPr>
              <a:t>CompanyX utilizes a dynamic and market-sensitive approach to the 7Ps of marketing—ensuring relevance, scalability, and competitive strength across its global operations (Singhal, 2018).</a:t>
            </a:r>
          </a:p>
          <a:p>
            <a:r>
              <a:rPr lang="en-AU" b="1" dirty="0">
                <a:latin typeface="Times New Roman" panose="02020603050405020304" pitchFamily="18" charset="0"/>
                <a:cs typeface="Times New Roman" panose="02020603050405020304" pitchFamily="18" charset="0"/>
              </a:rPr>
              <a:t>Product</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Broad portfolio across </a:t>
            </a:r>
            <a:r>
              <a:rPr lang="en-AU" b="1" dirty="0">
                <a:latin typeface="Times New Roman" panose="02020603050405020304" pitchFamily="18" charset="0"/>
                <a:cs typeface="Times New Roman" panose="02020603050405020304" pitchFamily="18" charset="0"/>
              </a:rPr>
              <a:t>Mobility</a:t>
            </a:r>
            <a:r>
              <a:rPr lang="en-AU" dirty="0">
                <a:latin typeface="Times New Roman" panose="02020603050405020304" pitchFamily="18" charset="0"/>
                <a:cs typeface="Times New Roman" panose="02020603050405020304" pitchFamily="18" charset="0"/>
              </a:rPr>
              <a:t>, </a:t>
            </a:r>
            <a:r>
              <a:rPr lang="en-AU" b="1" dirty="0">
                <a:latin typeface="Times New Roman" panose="02020603050405020304" pitchFamily="18" charset="0"/>
                <a:cs typeface="Times New Roman" panose="02020603050405020304" pitchFamily="18" charset="0"/>
              </a:rPr>
              <a:t>Delivery</a:t>
            </a:r>
            <a:r>
              <a:rPr lang="en-AU" dirty="0">
                <a:latin typeface="Times New Roman" panose="02020603050405020304" pitchFamily="18" charset="0"/>
                <a:cs typeface="Times New Roman" panose="02020603050405020304" pitchFamily="18" charset="0"/>
              </a:rPr>
              <a:t>, and </a:t>
            </a:r>
            <a:r>
              <a:rPr lang="en-AU" b="1" dirty="0">
                <a:latin typeface="Times New Roman" panose="02020603050405020304" pitchFamily="18" charset="0"/>
                <a:cs typeface="Times New Roman" panose="02020603050405020304" pitchFamily="18" charset="0"/>
              </a:rPr>
              <a:t>Freight</a:t>
            </a:r>
            <a:r>
              <a:rPr lang="en-AU"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Innovative offerings like autonomous vehicles, premium ride options, accessibility features.</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Seamless app experience that lets users choose services tailored to their needs.</a:t>
            </a:r>
          </a:p>
          <a:p>
            <a:r>
              <a:rPr lang="en-AU" b="1" dirty="0">
                <a:latin typeface="Times New Roman" panose="02020603050405020304" pitchFamily="18" charset="0"/>
                <a:cs typeface="Times New Roman" panose="02020603050405020304" pitchFamily="18" charset="0"/>
              </a:rPr>
              <a:t>Price</a:t>
            </a:r>
          </a:p>
          <a:p>
            <a:pPr marL="742950" lvl="1" indent="-285750">
              <a:buFont typeface="Arial" panose="020B0604020202020204" pitchFamily="34" charset="0"/>
              <a:buChar char="•"/>
            </a:pPr>
            <a:r>
              <a:rPr lang="en-AU" b="1" dirty="0">
                <a:latin typeface="Times New Roman" panose="02020603050405020304" pitchFamily="18" charset="0"/>
                <a:cs typeface="Times New Roman" panose="02020603050405020304" pitchFamily="18" charset="0"/>
              </a:rPr>
              <a:t>Dynamic pricing</a:t>
            </a:r>
            <a:r>
              <a:rPr lang="en-AU" dirty="0">
                <a:latin typeface="Times New Roman" panose="02020603050405020304" pitchFamily="18" charset="0"/>
                <a:cs typeface="Times New Roman" panose="02020603050405020304" pitchFamily="18" charset="0"/>
              </a:rPr>
              <a:t> based on demand, location, and time.</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Tiered price structures (e.g., Comfort vs. Pool).</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Upfront pricing for transparency and surge pricing to balance supply/demand.</a:t>
            </a:r>
          </a:p>
          <a:p>
            <a:r>
              <a:rPr lang="en-AU" b="1" dirty="0">
                <a:latin typeface="Times New Roman" panose="02020603050405020304" pitchFamily="18" charset="0"/>
                <a:cs typeface="Times New Roman" panose="02020603050405020304" pitchFamily="18" charset="0"/>
              </a:rPr>
              <a:t>Place</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Operates through a mobile app and website with global reach.</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Available in cities, airports, and high-traffic zones.</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Adapts locally (e.g., alternative payment options in different regions).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6430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5C973-9A68-D7CB-D3D8-562AFDF028EC}"/>
              </a:ext>
            </a:extLst>
          </p:cNvPr>
          <p:cNvSpPr>
            <a:spLocks noGrp="1"/>
          </p:cNvSpPr>
          <p:nvPr>
            <p:ph type="title"/>
          </p:nvPr>
        </p:nvSpPr>
        <p:spPr/>
        <p:txBody>
          <a:bodyPr/>
          <a:lstStyle/>
          <a:p>
            <a:r>
              <a:rPr lang="en-AU" b="1" dirty="0">
                <a:latin typeface="Times New Roman" panose="02020603050405020304" pitchFamily="18" charset="0"/>
                <a:cs typeface="Times New Roman" panose="02020603050405020304" pitchFamily="18" charset="0"/>
              </a:rPr>
              <a:t>Marketing Mix (7Ps)</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31F56F5-E368-AB16-3770-F2BEEC4C40B4}"/>
              </a:ext>
            </a:extLst>
          </p:cNvPr>
          <p:cNvSpPr txBox="1"/>
          <p:nvPr/>
        </p:nvSpPr>
        <p:spPr>
          <a:xfrm>
            <a:off x="1567543" y="2042555"/>
            <a:ext cx="9786257" cy="4524315"/>
          </a:xfrm>
          <a:prstGeom prst="rect">
            <a:avLst/>
          </a:prstGeom>
          <a:noFill/>
        </p:spPr>
        <p:txBody>
          <a:bodyPr wrap="square" rtlCol="0">
            <a:spAutoFit/>
          </a:bodyPr>
          <a:lstStyle/>
          <a:p>
            <a:r>
              <a:rPr lang="en-AU" b="1" dirty="0">
                <a:latin typeface="Times New Roman" panose="02020603050405020304" pitchFamily="18" charset="0"/>
                <a:cs typeface="Times New Roman" panose="02020603050405020304" pitchFamily="18" charset="0"/>
              </a:rPr>
              <a:t>Promotion</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Mix of digital advertising, influencer marketing, referral programs.</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Loyalty initiatives like </a:t>
            </a:r>
            <a:r>
              <a:rPr lang="en-AU" b="1" dirty="0">
                <a:latin typeface="Times New Roman" panose="02020603050405020304" pitchFamily="18" charset="0"/>
                <a:cs typeface="Times New Roman" panose="02020603050405020304" pitchFamily="18" charset="0"/>
              </a:rPr>
              <a:t>CompanyX One</a:t>
            </a:r>
            <a:r>
              <a:rPr lang="en-AU" dirty="0">
                <a:latin typeface="Times New Roman" panose="02020603050405020304" pitchFamily="18" charset="0"/>
                <a:cs typeface="Times New Roman" panose="02020603050405020304" pitchFamily="18" charset="0"/>
              </a:rPr>
              <a:t> boost retention.</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Region-specific campaigns enhance brand resonance.</a:t>
            </a:r>
          </a:p>
          <a:p>
            <a:r>
              <a:rPr lang="en-AU" b="1" dirty="0">
                <a:latin typeface="Times New Roman" panose="02020603050405020304" pitchFamily="18" charset="0"/>
                <a:cs typeface="Times New Roman" panose="02020603050405020304" pitchFamily="18" charset="0"/>
              </a:rPr>
              <a:t>People</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Drivers, delivery partners, and support staff form the backbone of quality delivery.</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Training, incentives, and engagement improve service consistency and satisfaction.</a:t>
            </a:r>
          </a:p>
          <a:p>
            <a:r>
              <a:rPr lang="en-AU" b="1" dirty="0">
                <a:latin typeface="Times New Roman" panose="02020603050405020304" pitchFamily="18" charset="0"/>
                <a:cs typeface="Times New Roman" panose="02020603050405020304" pitchFamily="18" charset="0"/>
              </a:rPr>
              <a:t>Process</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Efficient app-based journey from booking to feedback.</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AI-powered optimization for routing and customer support.</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Streamlined steps create reliability and ease for users.</a:t>
            </a:r>
          </a:p>
          <a:p>
            <a:r>
              <a:rPr lang="en-AU" b="1" dirty="0">
                <a:latin typeface="Times New Roman" panose="02020603050405020304" pitchFamily="18" charset="0"/>
                <a:cs typeface="Times New Roman" panose="02020603050405020304" pitchFamily="18" charset="0"/>
              </a:rPr>
              <a:t>Physical Evidence</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Branded vehicles, driver uniforms, receipts, and the app interface serve as tangible touchpoints.</a:t>
            </a:r>
          </a:p>
          <a:p>
            <a:pPr marL="742950" lvl="1" indent="-285750">
              <a:buFont typeface="Arial" panose="020B0604020202020204" pitchFamily="34" charset="0"/>
              <a:buChar char="•"/>
            </a:pPr>
            <a:r>
              <a:rPr lang="en-AU" dirty="0">
                <a:latin typeface="Times New Roman" panose="02020603050405020304" pitchFamily="18" charset="0"/>
                <a:cs typeface="Times New Roman" panose="02020603050405020304" pitchFamily="18" charset="0"/>
              </a:rPr>
              <a:t>Ratings and reviews reinforce trust and credibility in an otherwise digital service </a:t>
            </a:r>
            <a:r>
              <a:rPr lang="en-AU" dirty="0"/>
              <a:t>(Singhal, 2018)</a:t>
            </a:r>
            <a:r>
              <a:rPr lang="en-AU"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741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70661-BC2C-04E9-4973-3264EF9ADE71}"/>
              </a:ext>
            </a:extLst>
          </p:cNvPr>
          <p:cNvSpPr>
            <a:spLocks noGrp="1"/>
          </p:cNvSpPr>
          <p:nvPr>
            <p:ph type="title"/>
          </p:nvPr>
        </p:nvSpPr>
        <p:spPr>
          <a:xfrm>
            <a:off x="838200" y="136525"/>
            <a:ext cx="10515600" cy="1325563"/>
          </a:xfrm>
        </p:spPr>
        <p:txBody>
          <a:bodyPr/>
          <a:lstStyle/>
          <a:p>
            <a:r>
              <a:rPr lang="en-AU" b="1" dirty="0">
                <a:latin typeface="Times New Roman" panose="02020603050405020304" pitchFamily="18" charset="0"/>
                <a:cs typeface="Times New Roman" panose="02020603050405020304" pitchFamily="18" charset="0"/>
              </a:rPr>
              <a:t>Growth Contribution – CompanyX</a:t>
            </a:r>
            <a:r>
              <a:rPr lang="en-AU" dirty="0">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E15352C-44C6-5B57-E3AC-2C79F4529135}"/>
              </a:ext>
            </a:extLst>
          </p:cNvPr>
          <p:cNvSpPr txBox="1"/>
          <p:nvPr/>
        </p:nvSpPr>
        <p:spPr>
          <a:xfrm>
            <a:off x="224669" y="1346565"/>
            <a:ext cx="10515600" cy="4524315"/>
          </a:xfrm>
          <a:prstGeom prst="rect">
            <a:avLst/>
          </a:prstGeom>
          <a:noFill/>
        </p:spPr>
        <p:txBody>
          <a:bodyPr wrap="square" rtlCol="0">
            <a:spAutoFit/>
          </a:bodyPr>
          <a:lstStyle/>
          <a:p>
            <a:r>
              <a:rPr lang="en-AU" dirty="0">
                <a:latin typeface="Times New Roman" panose="02020603050405020304" pitchFamily="18" charset="0"/>
                <a:cs typeface="Times New Roman" panose="02020603050405020304" pitchFamily="18" charset="0"/>
              </a:rPr>
              <a:t>CompanyX’s growth strategy is built on three key pillars that drive long-term success across global markets:</a:t>
            </a:r>
            <a:endParaRPr lang="en-AU" b="1" dirty="0">
              <a:latin typeface="Times New Roman" panose="02020603050405020304" pitchFamily="18" charset="0"/>
              <a:cs typeface="Times New Roman" panose="02020603050405020304" pitchFamily="18" charset="0"/>
            </a:endParaRPr>
          </a:p>
          <a:p>
            <a:r>
              <a:rPr lang="en-AU" b="1" dirty="0">
                <a:latin typeface="Times New Roman" panose="02020603050405020304" pitchFamily="18" charset="0"/>
                <a:cs typeface="Times New Roman" panose="02020603050405020304" pitchFamily="18" charset="0"/>
              </a:rPr>
              <a:t>Scalable Global Expansion: </a:t>
            </a:r>
            <a:r>
              <a:rPr lang="en-AU" dirty="0">
                <a:latin typeface="Times New Roman" panose="02020603050405020304" pitchFamily="18" charset="0"/>
                <a:cs typeface="Times New Roman" panose="02020603050405020304" pitchFamily="18" charset="0"/>
              </a:rPr>
              <a:t>CompanyX leverages digital infrastructure, brand architecture, and strategic partnerships to expand rapidly while maintaining brand consistency. According to Marketing Catalyst, scalable growth requires strong branding, localized adaptation, and digital marketing to enter new markets effectively (</a:t>
            </a:r>
            <a:r>
              <a:rPr lang="en-US" dirty="0">
                <a:latin typeface="Times New Roman" panose="02020603050405020304" pitchFamily="18" charset="0"/>
                <a:cs typeface="Times New Roman" panose="02020603050405020304" pitchFamily="18" charset="0"/>
              </a:rPr>
              <a:t>Peter, 2024</a:t>
            </a:r>
            <a:r>
              <a:rPr lang="en-AU" dirty="0">
                <a:latin typeface="Times New Roman" panose="02020603050405020304" pitchFamily="18" charset="0"/>
                <a:cs typeface="Times New Roman" panose="02020603050405020304" pitchFamily="18" charset="0"/>
              </a:rPr>
              <a:t>).</a:t>
            </a:r>
          </a:p>
          <a:p>
            <a:endParaRPr lang="en-AU" b="1" dirty="0">
              <a:latin typeface="Times New Roman" panose="02020603050405020304" pitchFamily="18" charset="0"/>
              <a:cs typeface="Times New Roman" panose="02020603050405020304" pitchFamily="18" charset="0"/>
            </a:endParaRPr>
          </a:p>
          <a:p>
            <a:r>
              <a:rPr lang="en-AU" b="1" dirty="0">
                <a:latin typeface="Times New Roman" panose="02020603050405020304" pitchFamily="18" charset="0"/>
                <a:cs typeface="Times New Roman" panose="02020603050405020304" pitchFamily="18" charset="0"/>
              </a:rPr>
              <a:t>High Customer Retention: </a:t>
            </a:r>
            <a:r>
              <a:rPr lang="en-AU" dirty="0">
                <a:latin typeface="Times New Roman" panose="02020603050405020304" pitchFamily="18" charset="0"/>
                <a:cs typeface="Times New Roman" panose="02020603050405020304" pitchFamily="18" charset="0"/>
              </a:rPr>
              <a:t>By focusing on loyalty programs, personalized experiences, and seamless service delivery, CompanyX retains customers and boosts lifetime value. McKinsey reports that </a:t>
            </a:r>
            <a:r>
              <a:rPr lang="en-AU" b="1" dirty="0">
                <a:latin typeface="Times New Roman" panose="02020603050405020304" pitchFamily="18" charset="0"/>
                <a:cs typeface="Times New Roman" panose="02020603050405020304" pitchFamily="18" charset="0"/>
              </a:rPr>
              <a:t>80% of value creation</a:t>
            </a:r>
            <a:r>
              <a:rPr lang="en-AU" dirty="0">
                <a:latin typeface="Times New Roman" panose="02020603050405020304" pitchFamily="18" charset="0"/>
                <a:cs typeface="Times New Roman" panose="02020603050405020304" pitchFamily="18" charset="0"/>
              </a:rPr>
              <a:t> in top-performing companies comes from existing customers, and </a:t>
            </a:r>
            <a:r>
              <a:rPr lang="en-AU" b="1" dirty="0">
                <a:latin typeface="Times New Roman" panose="02020603050405020304" pitchFamily="18" charset="0"/>
                <a:cs typeface="Times New Roman" panose="02020603050405020304" pitchFamily="18" charset="0"/>
              </a:rPr>
              <a:t>experience-led growth</a:t>
            </a:r>
            <a:r>
              <a:rPr lang="en-AU" dirty="0">
                <a:latin typeface="Times New Roman" panose="02020603050405020304" pitchFamily="18" charset="0"/>
                <a:cs typeface="Times New Roman" panose="02020603050405020304" pitchFamily="18" charset="0"/>
              </a:rPr>
              <a:t> can increase customer satisfaction by 20–30% </a:t>
            </a:r>
            <a:r>
              <a:rPr lang="en-US" dirty="0">
                <a:latin typeface="Times New Roman" panose="02020603050405020304" pitchFamily="18" charset="0"/>
                <a:cs typeface="Times New Roman" panose="02020603050405020304" pitchFamily="18" charset="0"/>
              </a:rPr>
              <a:t>(Bough, et al., 2023).</a:t>
            </a:r>
            <a:endParaRPr lang="en-AU" dirty="0">
              <a:latin typeface="Times New Roman" panose="02020603050405020304" pitchFamily="18" charset="0"/>
              <a:cs typeface="Times New Roman" panose="02020603050405020304" pitchFamily="18" charset="0"/>
            </a:endParaRPr>
          </a:p>
          <a:p>
            <a:endParaRPr lang="en-AU" b="1" dirty="0">
              <a:latin typeface="Times New Roman" panose="02020603050405020304" pitchFamily="18" charset="0"/>
              <a:cs typeface="Times New Roman" panose="02020603050405020304" pitchFamily="18" charset="0"/>
            </a:endParaRPr>
          </a:p>
          <a:p>
            <a:r>
              <a:rPr lang="en-AU" b="1" dirty="0">
                <a:latin typeface="Times New Roman" panose="02020603050405020304" pitchFamily="18" charset="0"/>
                <a:cs typeface="Times New Roman" panose="02020603050405020304" pitchFamily="18" charset="0"/>
              </a:rPr>
              <a:t>Culturally Adaptive Branding &amp; Service Delivery: </a:t>
            </a:r>
            <a:r>
              <a:rPr lang="en-AU" dirty="0">
                <a:latin typeface="Times New Roman" panose="02020603050405020304" pitchFamily="18" charset="0"/>
                <a:cs typeface="Times New Roman" panose="02020603050405020304" pitchFamily="18" charset="0"/>
              </a:rPr>
              <a:t>CompanyX adapts its messaging, payment options, and promotions to suit local preferences—enhancing relevance and trust. As highlighted by Growth Engines, global brands that balance consistency with cultural sensitivity achieve </a:t>
            </a:r>
            <a:r>
              <a:rPr lang="en-AU" b="1" dirty="0">
                <a:latin typeface="Times New Roman" panose="02020603050405020304" pitchFamily="18" charset="0"/>
                <a:cs typeface="Times New Roman" panose="02020603050405020304" pitchFamily="18" charset="0"/>
              </a:rPr>
              <a:t>23% higher conversion rates</a:t>
            </a:r>
            <a:r>
              <a:rPr lang="en-AU" dirty="0">
                <a:latin typeface="Times New Roman" panose="02020603050405020304" pitchFamily="18" charset="0"/>
                <a:cs typeface="Times New Roman" panose="02020603050405020304" pitchFamily="18" charset="0"/>
              </a:rPr>
              <a:t> and deeper market penetration (growth engines, 2025).</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157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F2D0C-7C1A-6540-C231-3A520A6B1E0F}"/>
              </a:ext>
            </a:extLst>
          </p:cNvPr>
          <p:cNvSpPr>
            <a:spLocks noGrp="1"/>
          </p:cNvSpPr>
          <p:nvPr>
            <p:ph type="title"/>
          </p:nvPr>
        </p:nvSpPr>
        <p:spPr>
          <a:xfrm>
            <a:off x="960216" y="-193015"/>
            <a:ext cx="10515600" cy="1325563"/>
          </a:xfrm>
        </p:spPr>
        <p:txBody>
          <a:bodyPr/>
          <a:lstStyle/>
          <a:p>
            <a:r>
              <a:rPr lang="en-US" b="1" dirty="0">
                <a:latin typeface="Times New Roman" panose="02020603050405020304" pitchFamily="18" charset="0"/>
                <a:cs typeface="Times New Roman" panose="02020603050405020304" pitchFamily="18" charset="0"/>
              </a:rPr>
              <a:t>Reference List</a:t>
            </a:r>
          </a:p>
        </p:txBody>
      </p:sp>
      <p:sp>
        <p:nvSpPr>
          <p:cNvPr id="4" name="TextBox 3">
            <a:extLst>
              <a:ext uri="{FF2B5EF4-FFF2-40B4-BE49-F238E27FC236}">
                <a16:creationId xmlns:a16="http://schemas.microsoft.com/office/drawing/2014/main" id="{61984F2B-92B1-A083-77D3-761237FD81D3}"/>
              </a:ext>
            </a:extLst>
          </p:cNvPr>
          <p:cNvSpPr txBox="1"/>
          <p:nvPr/>
        </p:nvSpPr>
        <p:spPr>
          <a:xfrm>
            <a:off x="418203" y="1132548"/>
            <a:ext cx="11599625" cy="5632311"/>
          </a:xfrm>
          <a:prstGeom prst="rect">
            <a:avLst/>
          </a:prstGeom>
          <a:noFill/>
        </p:spPr>
        <p:txBody>
          <a:bodyPr wrap="square" rtlCol="0">
            <a:spAutoFit/>
          </a:bodyPr>
          <a:lstStyle/>
          <a:p>
            <a:r>
              <a:rPr lang="en-AU" dirty="0">
                <a:latin typeface="Times New Roman" panose="02020603050405020304" pitchFamily="18" charset="0"/>
                <a:cs typeface="Times New Roman" panose="02020603050405020304" pitchFamily="18" charset="0"/>
              </a:rPr>
              <a:t>Bough, V., Ehrlich, O., </a:t>
            </a:r>
            <a:r>
              <a:rPr lang="en-AU" dirty="0" err="1">
                <a:latin typeface="Times New Roman" panose="02020603050405020304" pitchFamily="18" charset="0"/>
                <a:cs typeface="Times New Roman" panose="02020603050405020304" pitchFamily="18" charset="0"/>
              </a:rPr>
              <a:t>Fanderl</a:t>
            </a:r>
            <a:r>
              <a:rPr lang="en-AU" dirty="0">
                <a:latin typeface="Times New Roman" panose="02020603050405020304" pitchFamily="18" charset="0"/>
                <a:cs typeface="Times New Roman" panose="02020603050405020304" pitchFamily="18" charset="0"/>
              </a:rPr>
              <a:t>, H., &amp; Schiff, R. (2023). </a:t>
            </a:r>
            <a:r>
              <a:rPr lang="en-AU" i="1" dirty="0">
                <a:latin typeface="Times New Roman" panose="02020603050405020304" pitchFamily="18" charset="0"/>
                <a:cs typeface="Times New Roman" panose="02020603050405020304" pitchFamily="18" charset="0"/>
              </a:rPr>
              <a:t>Experience-led growth: A new way to create value</a:t>
            </a:r>
            <a:r>
              <a:rPr lang="en-AU" dirty="0">
                <a:latin typeface="Times New Roman" panose="02020603050405020304" pitchFamily="18" charset="0"/>
                <a:cs typeface="Times New Roman" panose="02020603050405020304" pitchFamily="18" charset="0"/>
              </a:rPr>
              <a:t>. McKinsey &amp; Company. https://</a:t>
            </a:r>
            <a:r>
              <a:rPr lang="en-AU" dirty="0" err="1">
                <a:latin typeface="Times New Roman" panose="02020603050405020304" pitchFamily="18" charset="0"/>
                <a:cs typeface="Times New Roman" panose="02020603050405020304" pitchFamily="18" charset="0"/>
              </a:rPr>
              <a:t>www.mckinsey.com</a:t>
            </a:r>
            <a:r>
              <a:rPr lang="en-AU" dirty="0">
                <a:latin typeface="Times New Roman" panose="02020603050405020304" pitchFamily="18" charset="0"/>
                <a:cs typeface="Times New Roman" panose="02020603050405020304" pitchFamily="18" charset="0"/>
              </a:rPr>
              <a:t>/capabilities/growth-marketing-and-sales/our-insights/experience-led-growth-a-new-way-to-create-value</a:t>
            </a:r>
          </a:p>
          <a:p>
            <a:endParaRPr lang="en-AU"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Growth Engines. (2025). </a:t>
            </a:r>
            <a:r>
              <a:rPr lang="en-AU" i="1" dirty="0">
                <a:latin typeface="Times New Roman" panose="02020603050405020304" pitchFamily="18" charset="0"/>
                <a:cs typeface="Times New Roman" panose="02020603050405020304" pitchFamily="18" charset="0"/>
              </a:rPr>
              <a:t>Global digital branding: Strategies for expanding your online presence worldwide</a:t>
            </a:r>
            <a:r>
              <a:rPr lang="en-AU" dirty="0">
                <a:latin typeface="Times New Roman" panose="02020603050405020304" pitchFamily="18" charset="0"/>
                <a:cs typeface="Times New Roman" panose="02020603050405020304" pitchFamily="18" charset="0"/>
              </a:rPr>
              <a:t>. https://growth-</a:t>
            </a:r>
            <a:r>
              <a:rPr lang="en-AU" dirty="0" err="1">
                <a:latin typeface="Times New Roman" panose="02020603050405020304" pitchFamily="18" charset="0"/>
                <a:cs typeface="Times New Roman" panose="02020603050405020304" pitchFamily="18" charset="0"/>
              </a:rPr>
              <a:t>engines.com</a:t>
            </a:r>
            <a:r>
              <a:rPr lang="en-AU" dirty="0">
                <a:latin typeface="Times New Roman" panose="02020603050405020304" pitchFamily="18" charset="0"/>
                <a:cs typeface="Times New Roman" panose="02020603050405020304" pitchFamily="18" charset="0"/>
              </a:rPr>
              <a:t>/insights/branding/global-digital-branding-strategies-for-expanding-your-online-presence-worldwide</a:t>
            </a:r>
          </a:p>
          <a:p>
            <a:endParaRPr lang="en-AU"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Maheshwari, N. (2019). Influencing customers globally through unique branding and positioning strategy: A case study of Uber. In </a:t>
            </a:r>
            <a:r>
              <a:rPr lang="en-AU" i="1" dirty="0">
                <a:latin typeface="Times New Roman" panose="02020603050405020304" pitchFamily="18" charset="0"/>
                <a:cs typeface="Times New Roman" panose="02020603050405020304" pitchFamily="18" charset="0"/>
              </a:rPr>
              <a:t>Breaking down language and cultural barriers through contemporary global marketing strategies</a:t>
            </a:r>
            <a:r>
              <a:rPr lang="en-AU" dirty="0">
                <a:latin typeface="Times New Roman" panose="02020603050405020304" pitchFamily="18" charset="0"/>
                <a:cs typeface="Times New Roman" panose="02020603050405020304" pitchFamily="18" charset="0"/>
              </a:rPr>
              <a:t> (pp. 128–144). IGI Global. https://</a:t>
            </a:r>
            <a:r>
              <a:rPr lang="en-AU" dirty="0" err="1">
                <a:latin typeface="Times New Roman" panose="02020603050405020304" pitchFamily="18" charset="0"/>
                <a:cs typeface="Times New Roman" panose="02020603050405020304" pitchFamily="18" charset="0"/>
              </a:rPr>
              <a:t>www.igi-global.com</a:t>
            </a:r>
            <a:r>
              <a:rPr lang="en-AU" dirty="0">
                <a:latin typeface="Times New Roman" panose="02020603050405020304" pitchFamily="18" charset="0"/>
                <a:cs typeface="Times New Roman" panose="02020603050405020304" pitchFamily="18" charset="0"/>
              </a:rPr>
              <a:t>/chapter/influencing-customers-globally-through-unique-branding-and-positioning-strategy/231924</a:t>
            </a:r>
          </a:p>
          <a:p>
            <a:endParaRPr lang="en-AU"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McCall, A. (2024). </a:t>
            </a:r>
            <a:r>
              <a:rPr lang="en-AU" i="1" dirty="0">
                <a:latin typeface="Times New Roman" panose="02020603050405020304" pitchFamily="18" charset="0"/>
                <a:cs typeface="Times New Roman" panose="02020603050405020304" pitchFamily="18" charset="0"/>
              </a:rPr>
              <a:t>Strategic management and competitive advantage</a:t>
            </a:r>
            <a:r>
              <a:rPr lang="en-AU" dirty="0">
                <a:latin typeface="Times New Roman" panose="02020603050405020304" pitchFamily="18" charset="0"/>
                <a:cs typeface="Times New Roman" panose="02020603050405020304" pitchFamily="18" charset="0"/>
              </a:rPr>
              <a:t>. ResearchGate. https://</a:t>
            </a:r>
            <a:r>
              <a:rPr lang="en-AU" dirty="0" err="1">
                <a:latin typeface="Times New Roman" panose="02020603050405020304" pitchFamily="18" charset="0"/>
                <a:cs typeface="Times New Roman" panose="02020603050405020304" pitchFamily="18" charset="0"/>
              </a:rPr>
              <a:t>www.researchgate.net</a:t>
            </a:r>
            <a:r>
              <a:rPr lang="en-AU" dirty="0">
                <a:latin typeface="Times New Roman" panose="02020603050405020304" pitchFamily="18" charset="0"/>
                <a:cs typeface="Times New Roman" panose="02020603050405020304" pitchFamily="18" charset="0"/>
              </a:rPr>
              <a:t>/profile/Andrei-Mccall-2/publication/386050766_Strategic_Management_and_Competitive_Advantage/links/67413cd9868c966b9326074f/Strategic-Management-and-Competitive-</a:t>
            </a:r>
            <a:r>
              <a:rPr lang="en-AU" dirty="0" err="1">
                <a:latin typeface="Times New Roman" panose="02020603050405020304" pitchFamily="18" charset="0"/>
                <a:cs typeface="Times New Roman" panose="02020603050405020304" pitchFamily="18" charset="0"/>
              </a:rPr>
              <a:t>Advantage.pdf</a:t>
            </a:r>
            <a:endParaRPr lang="en-AU" dirty="0">
              <a:latin typeface="Times New Roman" panose="02020603050405020304" pitchFamily="18" charset="0"/>
              <a:cs typeface="Times New Roman" panose="02020603050405020304" pitchFamily="18" charset="0"/>
            </a:endParaRPr>
          </a:p>
          <a:p>
            <a:endParaRPr lang="en-AU"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Peter, K. (2024). </a:t>
            </a:r>
            <a:r>
              <a:rPr lang="en-AU" i="1" dirty="0">
                <a:latin typeface="Times New Roman" panose="02020603050405020304" pitchFamily="18" charset="0"/>
                <a:cs typeface="Times New Roman" panose="02020603050405020304" pitchFamily="18" charset="0"/>
              </a:rPr>
              <a:t>From startups to global brands: Scaling a business with strategic marketing</a:t>
            </a:r>
            <a:r>
              <a:rPr lang="en-AU" dirty="0">
                <a:latin typeface="Times New Roman" panose="02020603050405020304" pitchFamily="18" charset="0"/>
                <a:cs typeface="Times New Roman" panose="02020603050405020304" pitchFamily="18" charset="0"/>
              </a:rPr>
              <a:t>. Marketing Catalyst. https://</a:t>
            </a:r>
            <a:r>
              <a:rPr lang="en-AU" dirty="0" err="1">
                <a:latin typeface="Times New Roman" panose="02020603050405020304" pitchFamily="18" charset="0"/>
                <a:cs typeface="Times New Roman" panose="02020603050405020304" pitchFamily="18" charset="0"/>
              </a:rPr>
              <a:t>marketingcatalyst.net</a:t>
            </a:r>
            <a:r>
              <a:rPr lang="en-AU" dirty="0">
                <a:latin typeface="Times New Roman" panose="02020603050405020304" pitchFamily="18" charset="0"/>
                <a:cs typeface="Times New Roman" panose="02020603050405020304" pitchFamily="18" charset="0"/>
              </a:rPr>
              <a:t>/from-startups-to-global-brands-scaling-a-business-with-strategic-marketing/</a:t>
            </a:r>
          </a:p>
          <a:p>
            <a:endParaRPr lang="en-US" dirty="0"/>
          </a:p>
        </p:txBody>
      </p:sp>
    </p:spTree>
    <p:extLst>
      <p:ext uri="{BB962C8B-B14F-4D97-AF65-F5344CB8AC3E}">
        <p14:creationId xmlns:p14="http://schemas.microsoft.com/office/powerpoint/2010/main" val="1809970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80535-CBDC-9B72-3F1E-0217E805056A}"/>
              </a:ext>
            </a:extLst>
          </p:cNvPr>
          <p:cNvSpPr>
            <a:spLocks noGrp="1"/>
          </p:cNvSpPr>
          <p:nvPr>
            <p:ph type="title"/>
          </p:nvPr>
        </p:nvSpPr>
        <p:spPr>
          <a:xfrm>
            <a:off x="838200" y="-228862"/>
            <a:ext cx="10515600" cy="1325563"/>
          </a:xfrm>
        </p:spPr>
        <p:txBody>
          <a:bodyPr/>
          <a:lstStyle/>
          <a:p>
            <a:r>
              <a:rPr lang="en-US" b="1" dirty="0">
                <a:latin typeface="Times New Roman" panose="02020603050405020304" pitchFamily="18" charset="0"/>
                <a:cs typeface="Times New Roman" panose="02020603050405020304" pitchFamily="18" charset="0"/>
              </a:rPr>
              <a:t>Reference List</a:t>
            </a:r>
          </a:p>
        </p:txBody>
      </p:sp>
      <p:sp>
        <p:nvSpPr>
          <p:cNvPr id="4" name="TextBox 3">
            <a:extLst>
              <a:ext uri="{FF2B5EF4-FFF2-40B4-BE49-F238E27FC236}">
                <a16:creationId xmlns:a16="http://schemas.microsoft.com/office/drawing/2014/main" id="{4CB28019-0FBB-123D-171B-4C980428C8EB}"/>
              </a:ext>
            </a:extLst>
          </p:cNvPr>
          <p:cNvSpPr txBox="1"/>
          <p:nvPr/>
        </p:nvSpPr>
        <p:spPr>
          <a:xfrm>
            <a:off x="247135" y="1405460"/>
            <a:ext cx="11509437" cy="5232847"/>
          </a:xfrm>
          <a:prstGeom prst="rect">
            <a:avLst/>
          </a:prstGeom>
          <a:noFill/>
        </p:spPr>
        <p:txBody>
          <a:bodyPr wrap="square" rtlCol="0">
            <a:spAutoFit/>
          </a:bodyPr>
          <a:lstStyle/>
          <a:p>
            <a:r>
              <a:rPr lang="en-AU" dirty="0">
                <a:latin typeface="Times New Roman" panose="02020603050405020304" pitchFamily="18" charset="0"/>
                <a:cs typeface="Times New Roman" panose="02020603050405020304" pitchFamily="18" charset="0"/>
              </a:rPr>
              <a:t>Singhal, P. (2018). </a:t>
            </a:r>
            <a:r>
              <a:rPr lang="en-AU" i="1" dirty="0">
                <a:latin typeface="Times New Roman" panose="02020603050405020304" pitchFamily="18" charset="0"/>
                <a:cs typeface="Times New Roman" panose="02020603050405020304" pitchFamily="18" charset="0"/>
              </a:rPr>
              <a:t>The evolved marketing mix: How innovation is transforming the 7 Ps</a:t>
            </a:r>
            <a:r>
              <a:rPr lang="en-AU" dirty="0">
                <a:latin typeface="Times New Roman" panose="02020603050405020304" pitchFamily="18" charset="0"/>
                <a:cs typeface="Times New Roman" panose="02020603050405020304" pitchFamily="18" charset="0"/>
              </a:rPr>
              <a:t>. ResearchGate. https://</a:t>
            </a:r>
            <a:r>
              <a:rPr lang="en-AU" dirty="0" err="1">
                <a:latin typeface="Times New Roman" panose="02020603050405020304" pitchFamily="18" charset="0"/>
                <a:cs typeface="Times New Roman" panose="02020603050405020304" pitchFamily="18" charset="0"/>
              </a:rPr>
              <a:t>www.researchgate.net</a:t>
            </a:r>
            <a:r>
              <a:rPr lang="en-AU" dirty="0">
                <a:latin typeface="Times New Roman" panose="02020603050405020304" pitchFamily="18" charset="0"/>
                <a:cs typeface="Times New Roman" panose="02020603050405020304" pitchFamily="18" charset="0"/>
              </a:rPr>
              <a:t>/profile/Kapil-Bhatia-5/publication/385551868_The_Evolved_Marketing_Mix_-_How_Innovation_is_Transforming_the_7_Ps/links/6729f5032326b47637c81e61/The-Evolved-Marketing-Mix-How-Innovation-is-Transforming-the-7-Ps.pdf</a:t>
            </a:r>
          </a:p>
          <a:p>
            <a:endParaRPr lang="en-AU" b="1"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Soltani, A., Allan, A., Khalaj, F., Pojani, D., &amp; Mehdizadeh, M</a:t>
            </a:r>
            <a:r>
              <a:rPr lang="en-AU" b="1" dirty="0">
                <a:latin typeface="Times New Roman" panose="02020603050405020304" pitchFamily="18" charset="0"/>
                <a:cs typeface="Times New Roman" panose="02020603050405020304" pitchFamily="18" charset="0"/>
              </a:rPr>
              <a:t>.</a:t>
            </a:r>
            <a:r>
              <a:rPr lang="en-AU" dirty="0">
                <a:latin typeface="Times New Roman" panose="02020603050405020304" pitchFamily="18" charset="0"/>
                <a:cs typeface="Times New Roman" panose="02020603050405020304" pitchFamily="18" charset="0"/>
              </a:rPr>
              <a:t> (2021). Ridesharing in Adelaide: Segmentation of users. </a:t>
            </a:r>
            <a:r>
              <a:rPr lang="en-AU" i="1" dirty="0">
                <a:latin typeface="Times New Roman" panose="02020603050405020304" pitchFamily="18" charset="0"/>
                <a:cs typeface="Times New Roman" panose="02020603050405020304" pitchFamily="18" charset="0"/>
              </a:rPr>
              <a:t>Journal of Transport Geography, 92</a:t>
            </a:r>
            <a:r>
              <a:rPr lang="en-AU" dirty="0">
                <a:latin typeface="Times New Roman" panose="02020603050405020304" pitchFamily="18" charset="0"/>
                <a:cs typeface="Times New Roman" panose="02020603050405020304" pitchFamily="18" charset="0"/>
              </a:rPr>
              <a:t>, 103030. https://</a:t>
            </a:r>
            <a:r>
              <a:rPr lang="en-AU" dirty="0" err="1">
                <a:latin typeface="Times New Roman" panose="02020603050405020304" pitchFamily="18" charset="0"/>
                <a:cs typeface="Times New Roman" panose="02020603050405020304" pitchFamily="18" charset="0"/>
              </a:rPr>
              <a:t>doi.org</a:t>
            </a:r>
            <a:r>
              <a:rPr lang="en-AU" dirty="0">
                <a:latin typeface="Times New Roman" panose="02020603050405020304" pitchFamily="18" charset="0"/>
                <a:cs typeface="Times New Roman" panose="02020603050405020304" pitchFamily="18" charset="0"/>
              </a:rPr>
              <a:t>/10.1016/j.jtrangeo.2021.103030</a:t>
            </a:r>
          </a:p>
          <a:p>
            <a:endParaRPr lang="en-AU" b="1"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Torrens University. (2025). </a:t>
            </a:r>
            <a:r>
              <a:rPr lang="en-AU" i="1" dirty="0">
                <a:latin typeface="Times New Roman" panose="02020603050405020304" pitchFamily="18" charset="0"/>
                <a:cs typeface="Times New Roman" panose="02020603050405020304" pitchFamily="18" charset="0"/>
              </a:rPr>
              <a:t>Module 4.1: STP (Segmentation, Targeting and Positioning)</a:t>
            </a:r>
            <a:r>
              <a:rPr lang="en-AU" dirty="0">
                <a:latin typeface="Times New Roman" panose="02020603050405020304" pitchFamily="18" charset="0"/>
                <a:cs typeface="Times New Roman" panose="02020603050405020304" pitchFamily="18" charset="0"/>
              </a:rPr>
              <a:t>. https://</a:t>
            </a:r>
            <a:r>
              <a:rPr lang="en-AU" dirty="0" err="1">
                <a:latin typeface="Times New Roman" panose="02020603050405020304" pitchFamily="18" charset="0"/>
                <a:cs typeface="Times New Roman" panose="02020603050405020304" pitchFamily="18" charset="0"/>
              </a:rPr>
              <a:t>mylearn.torrens.edu.au</a:t>
            </a:r>
            <a:r>
              <a:rPr lang="en-AU" dirty="0">
                <a:latin typeface="Times New Roman" panose="02020603050405020304" pitchFamily="18" charset="0"/>
                <a:cs typeface="Times New Roman" panose="02020603050405020304" pitchFamily="18" charset="0"/>
              </a:rPr>
              <a:t>/courses/17516/pages/learning-services-8?module_item_id=948797</a:t>
            </a:r>
          </a:p>
          <a:p>
            <a:endParaRPr lang="en-AU" b="1"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Uber Technologies Inc. (2023). </a:t>
            </a:r>
            <a:r>
              <a:rPr lang="en-AU" i="1" dirty="0">
                <a:latin typeface="Times New Roman" panose="02020603050405020304" pitchFamily="18" charset="0"/>
                <a:cs typeface="Times New Roman" panose="02020603050405020304" pitchFamily="18" charset="0"/>
              </a:rPr>
              <a:t>Annual report 2023</a:t>
            </a:r>
            <a:r>
              <a:rPr lang="en-AU" dirty="0">
                <a:latin typeface="Times New Roman" panose="02020603050405020304" pitchFamily="18" charset="0"/>
                <a:cs typeface="Times New Roman" panose="02020603050405020304" pitchFamily="18" charset="0"/>
              </a:rPr>
              <a:t>. https://s23.q4cdn.com/407969754/files/</a:t>
            </a:r>
            <a:r>
              <a:rPr lang="en-AU" dirty="0" err="1">
                <a:latin typeface="Times New Roman" panose="02020603050405020304" pitchFamily="18" charset="0"/>
                <a:cs typeface="Times New Roman" panose="02020603050405020304" pitchFamily="18" charset="0"/>
              </a:rPr>
              <a:t>doc_financials</a:t>
            </a:r>
            <a:r>
              <a:rPr lang="en-AU" dirty="0">
                <a:latin typeface="Times New Roman" panose="02020603050405020304" pitchFamily="18" charset="0"/>
                <a:cs typeface="Times New Roman" panose="02020603050405020304" pitchFamily="18" charset="0"/>
              </a:rPr>
              <a:t>/2024/Stockholders2024/2023-annual-report.pdf</a:t>
            </a:r>
          </a:p>
          <a:p>
            <a:endParaRPr lang="en-AU" b="1" dirty="0">
              <a:latin typeface="Times New Roman" panose="02020603050405020304" pitchFamily="18" charset="0"/>
              <a:cs typeface="Times New Roman" panose="02020603050405020304" pitchFamily="18" charset="0"/>
            </a:endParaRPr>
          </a:p>
          <a:p>
            <a:r>
              <a:rPr lang="en-AU" dirty="0">
                <a:latin typeface="Times New Roman" panose="02020603050405020304" pitchFamily="18" charset="0"/>
                <a:cs typeface="Times New Roman" panose="02020603050405020304" pitchFamily="18" charset="0"/>
              </a:rPr>
              <a:t>Uber Technologies Inc. (2024). </a:t>
            </a:r>
            <a:r>
              <a:rPr lang="en-AU" i="1" dirty="0">
                <a:latin typeface="Times New Roman" panose="02020603050405020304" pitchFamily="18" charset="0"/>
                <a:cs typeface="Times New Roman" panose="02020603050405020304" pitchFamily="18" charset="0"/>
              </a:rPr>
              <a:t>Annual report 2024</a:t>
            </a:r>
            <a:r>
              <a:rPr lang="en-AU" dirty="0">
                <a:latin typeface="Times New Roman" panose="02020603050405020304" pitchFamily="18" charset="0"/>
                <a:cs typeface="Times New Roman" panose="02020603050405020304" pitchFamily="18" charset="0"/>
              </a:rPr>
              <a:t>. https://</a:t>
            </a:r>
            <a:r>
              <a:rPr lang="en-AU" dirty="0" err="1">
                <a:latin typeface="Times New Roman" panose="02020603050405020304" pitchFamily="18" charset="0"/>
                <a:cs typeface="Times New Roman" panose="02020603050405020304" pitchFamily="18" charset="0"/>
              </a:rPr>
              <a:t>www.annualreports.com</a:t>
            </a:r>
            <a:r>
              <a:rPr lang="en-AU" dirty="0">
                <a:latin typeface="Times New Roman" panose="02020603050405020304" pitchFamily="18" charset="0"/>
                <a:cs typeface="Times New Roman" panose="02020603050405020304" pitchFamily="18" charset="0"/>
              </a:rPr>
              <a:t>/</a:t>
            </a:r>
            <a:r>
              <a:rPr lang="en-AU" dirty="0" err="1">
                <a:latin typeface="Times New Roman" panose="02020603050405020304" pitchFamily="18" charset="0"/>
                <a:cs typeface="Times New Roman" panose="02020603050405020304" pitchFamily="18" charset="0"/>
              </a:rPr>
              <a:t>HostedData</a:t>
            </a:r>
            <a:r>
              <a:rPr lang="en-AU" dirty="0">
                <a:latin typeface="Times New Roman" panose="02020603050405020304" pitchFamily="18" charset="0"/>
                <a:cs typeface="Times New Roman" panose="02020603050405020304" pitchFamily="18" charset="0"/>
              </a:rPr>
              <a:t>/</a:t>
            </a:r>
            <a:r>
              <a:rPr lang="en-AU" dirty="0" err="1">
                <a:latin typeface="Times New Roman" panose="02020603050405020304" pitchFamily="18" charset="0"/>
                <a:cs typeface="Times New Roman" panose="02020603050405020304" pitchFamily="18" charset="0"/>
              </a:rPr>
              <a:t>AnnualReports</a:t>
            </a:r>
            <a:r>
              <a:rPr lang="en-AU" dirty="0">
                <a:latin typeface="Times New Roman" panose="02020603050405020304" pitchFamily="18" charset="0"/>
                <a:cs typeface="Times New Roman" panose="02020603050405020304" pitchFamily="18" charset="0"/>
              </a:rPr>
              <a:t>/PDF/NYSE_UBER_2024.pdf</a:t>
            </a:r>
          </a:p>
          <a:p>
            <a:endParaRPr lang="en-US" dirty="0"/>
          </a:p>
        </p:txBody>
      </p:sp>
    </p:spTree>
    <p:extLst>
      <p:ext uri="{BB962C8B-B14F-4D97-AF65-F5344CB8AC3E}">
        <p14:creationId xmlns:p14="http://schemas.microsoft.com/office/powerpoint/2010/main" val="400368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2003</Words>
  <Application>Microsoft Macintosh PowerPoint</Application>
  <PresentationFormat>Widescreen</PresentationFormat>
  <Paragraphs>139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Case Study Presentation </vt:lpstr>
      <vt:lpstr>Introduction Summary </vt:lpstr>
      <vt:lpstr>Key Services: </vt:lpstr>
      <vt:lpstr>STP Model: Segmentation, Targeting, and Positioning </vt:lpstr>
      <vt:lpstr>STP Model:  Segmentation Strategy - CompanyX  </vt:lpstr>
      <vt:lpstr>STP Model: Targeting Strategy – CompanyX </vt:lpstr>
      <vt:lpstr>STP Model: Positioning Strategy – CompanyX </vt:lpstr>
      <vt:lpstr>Competitive Advantage – CompanyX </vt:lpstr>
      <vt:lpstr>Competitive Advantage – CompanyX</vt:lpstr>
      <vt:lpstr>Marketing Mix (7Ps)</vt:lpstr>
      <vt:lpstr>Marketing Mix (7Ps)</vt:lpstr>
      <vt:lpstr>Growth Contribution – CompanyX </vt:lpstr>
      <vt:lpstr>Reference List</vt:lpstr>
      <vt:lpstr>Reference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Maleunda Asende</dc:creator>
  <cp:lastModifiedBy>Maleunda Asende</cp:lastModifiedBy>
  <cp:revision>1</cp:revision>
  <dcterms:created xsi:type="dcterms:W3CDTF">2025-07-20T00:14:32Z</dcterms:created>
  <dcterms:modified xsi:type="dcterms:W3CDTF">2025-07-20T01:37:37Z</dcterms:modified>
</cp:coreProperties>
</file>